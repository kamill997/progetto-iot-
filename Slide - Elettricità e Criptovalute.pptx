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Costo stimato per estrarre 1 BTC (USD)</c:v>
                </c:pt>
              </c:strCache>
            </c:strRef>
          </c:tx>
          <c:spPr>
            <a:solidFill>
              <a:srgbClr val="2E4374"/>
            </a:solidFill>
            <a:effectLst/>
          </c:spPr>
          <c:invertIfNegative val="0"/>
          <c:dPt>
            <c:idx val="0"/>
            <c:invertIfNegative val="0"/>
            <c:bubble3D val="0"/>
            <c:extLst>
              <c:ext xmlns:c16="http://schemas.microsoft.com/office/drawing/2014/chart" uri="{C3380CC4-5D6E-409C-BE32-E72D297353CC}">
                <c16:uniqueId val="{00000001-D17A-4CCA-9953-148D5E624639}"/>
              </c:ext>
            </c:extLst>
          </c:dPt>
          <c:dPt>
            <c:idx val="1"/>
            <c:invertIfNegative val="0"/>
            <c:bubble3D val="0"/>
            <c:extLst>
              <c:ext xmlns:c16="http://schemas.microsoft.com/office/drawing/2014/chart" uri="{C3380CC4-5D6E-409C-BE32-E72D297353CC}">
                <c16:uniqueId val="{00000003-D17A-4CCA-9953-148D5E624639}"/>
              </c:ext>
            </c:extLst>
          </c:dPt>
          <c:dPt>
            <c:idx val="2"/>
            <c:invertIfNegative val="0"/>
            <c:bubble3D val="0"/>
            <c:extLst>
              <c:ext xmlns:c16="http://schemas.microsoft.com/office/drawing/2014/chart" uri="{C3380CC4-5D6E-409C-BE32-E72D297353CC}">
                <c16:uniqueId val="{00000005-D17A-4CCA-9953-148D5E624639}"/>
              </c:ext>
            </c:extLst>
          </c:dPt>
          <c:dPt>
            <c:idx val="3"/>
            <c:invertIfNegative val="0"/>
            <c:bubble3D val="0"/>
            <c:spPr>
              <a:solidFill>
                <a:srgbClr val="FF6B4A"/>
              </a:solidFill>
              <a:effectLst/>
            </c:spPr>
            <c:extLst>
              <c:ext xmlns:c16="http://schemas.microsoft.com/office/drawing/2014/chart" uri="{C3380CC4-5D6E-409C-BE32-E72D297353CC}">
                <c16:uniqueId val="{00000007-D17A-4CCA-9953-148D5E624639}"/>
              </c:ext>
            </c:extLst>
          </c:dPt>
          <c:dLbls>
            <c:numFmt formatCode="\$#,##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Q25</c:v>
                </c:pt>
                <c:pt idx="1">
                  <c:v>Q50</c:v>
                </c:pt>
                <c:pt idx="2">
                  <c:v>Q75</c:v>
                </c:pt>
                <c:pt idx="3">
                  <c:v>Q100</c:v>
                </c:pt>
              </c:strCache>
            </c:strRef>
          </c:cat>
          <c:val>
            <c:numRef>
              <c:f>Sheet1!$B$2:$B$5</c:f>
              <c:numCache>
                <c:formatCode>General</c:formatCode>
                <c:ptCount val="4"/>
                <c:pt idx="0">
                  <c:v>4329</c:v>
                </c:pt>
                <c:pt idx="1">
                  <c:v>6543</c:v>
                </c:pt>
                <c:pt idx="2">
                  <c:v>9120</c:v>
                </c:pt>
                <c:pt idx="3">
                  <c:v>26170</c:v>
                </c:pt>
              </c:numCache>
            </c:numRef>
          </c:val>
          <c:extLst>
            <c:ext xmlns:c16="http://schemas.microsoft.com/office/drawing/2014/chart" uri="{C3380CC4-5D6E-409C-BE32-E72D297353CC}">
              <c16:uniqueId val="{00000008-D17A-4CCA-9953-148D5E62463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8DECE"/>
            </a:solidFill>
            <a:prstDash val="solid"/>
            <a:round/>
          </a:ln>
        </c:spPr>
        <c:txPr>
          <a:bodyPr/>
          <a:lstStyle/>
          <a:p>
            <a:pPr>
              <a:defRPr sz="1200" b="0" i="0" u="none" strike="noStrike">
                <a:solidFill>
                  <a:srgbClr val="2629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Test lineare</c:v>
                </c:pt>
              </c:strCache>
            </c:strRef>
          </c:tx>
          <c:spPr>
            <a:solidFill>
              <a:srgbClr val="2E4374"/>
            </a:solidFill>
            <a:effectLst/>
          </c:spPr>
          <c:invertIfNegative val="0"/>
          <c:dLbls>
            <c:numFmt formatCode="0.0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 → P</c:v>
                </c:pt>
                <c:pt idx="1">
                  <c:v>P → H</c:v>
                </c:pt>
              </c:strCache>
            </c:strRef>
          </c:cat>
          <c:val>
            <c:numRef>
              <c:f>Sheet1!$B$2:$B$3</c:f>
              <c:numCache>
                <c:formatCode>General</c:formatCode>
                <c:ptCount val="2"/>
                <c:pt idx="0">
                  <c:v>4.3029999999999999</c:v>
                </c:pt>
                <c:pt idx="1">
                  <c:v>0.72099999999999997</c:v>
                </c:pt>
              </c:numCache>
            </c:numRef>
          </c:val>
          <c:extLst>
            <c:ext xmlns:c16="http://schemas.microsoft.com/office/drawing/2014/chart" uri="{C3380CC4-5D6E-409C-BE32-E72D297353CC}">
              <c16:uniqueId val="{00000000-1A46-4EAE-B74B-B6831F272A27}"/>
            </c:ext>
          </c:extLst>
        </c:ser>
        <c:ser>
          <c:idx val="1"/>
          <c:order val="1"/>
          <c:tx>
            <c:strRef>
              <c:f>Sheet1!$C$1</c:f>
              <c:strCache>
                <c:ptCount val="1"/>
                <c:pt idx="0">
                  <c:v>Test non lineare</c:v>
                </c:pt>
              </c:strCache>
            </c:strRef>
          </c:tx>
          <c:spPr>
            <a:solidFill>
              <a:srgbClr val="FF6B4A"/>
            </a:solidFill>
            <a:effectLst/>
          </c:spPr>
          <c:invertIfNegative val="0"/>
          <c:dLbls>
            <c:numFmt formatCode="0.0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 → P</c:v>
                </c:pt>
                <c:pt idx="1">
                  <c:v>P → H</c:v>
                </c:pt>
              </c:strCache>
            </c:strRef>
          </c:cat>
          <c:val>
            <c:numRef>
              <c:f>Sheet1!$C$2:$C$3</c:f>
              <c:numCache>
                <c:formatCode>General</c:formatCode>
                <c:ptCount val="2"/>
                <c:pt idx="0">
                  <c:v>8.7759999999999998</c:v>
                </c:pt>
                <c:pt idx="1">
                  <c:v>6.899</c:v>
                </c:pt>
              </c:numCache>
            </c:numRef>
          </c:val>
          <c:extLst>
            <c:ext xmlns:c16="http://schemas.microsoft.com/office/drawing/2014/chart" uri="{C3380CC4-5D6E-409C-BE32-E72D297353CC}">
              <c16:uniqueId val="{00000001-1A46-4EAE-B74B-B6831F272A2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8DECE"/>
            </a:solidFill>
            <a:prstDash val="solid"/>
            <a:round/>
          </a:ln>
        </c:spPr>
        <c:txPr>
          <a:bodyPr/>
          <a:lstStyle/>
          <a:p>
            <a:pPr>
              <a:defRPr sz="1200" b="0" i="0" u="none" strike="noStrike">
                <a:solidFill>
                  <a:srgbClr val="2629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Test lineare</c:v>
                </c:pt>
              </c:strCache>
            </c:strRef>
          </c:tx>
          <c:spPr>
            <a:solidFill>
              <a:srgbClr val="2E4374"/>
            </a:solidFill>
            <a:effectLst/>
          </c:spPr>
          <c:invertIfNegative val="0"/>
          <c:dLbls>
            <c:numFmt formatCode="0.0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 → P</c:v>
                </c:pt>
                <c:pt idx="1">
                  <c:v>P → H</c:v>
                </c:pt>
              </c:strCache>
            </c:strRef>
          </c:cat>
          <c:val>
            <c:numRef>
              <c:f>Sheet1!$B$2:$B$3</c:f>
              <c:numCache>
                <c:formatCode>General</c:formatCode>
                <c:ptCount val="2"/>
                <c:pt idx="0">
                  <c:v>2.5920000000000001</c:v>
                </c:pt>
                <c:pt idx="1">
                  <c:v>4.7649999999999997</c:v>
                </c:pt>
              </c:numCache>
            </c:numRef>
          </c:val>
          <c:extLst>
            <c:ext xmlns:c16="http://schemas.microsoft.com/office/drawing/2014/chart" uri="{C3380CC4-5D6E-409C-BE32-E72D297353CC}">
              <c16:uniqueId val="{00000000-DDC2-40CC-8B51-B35E0C5E1582}"/>
            </c:ext>
          </c:extLst>
        </c:ser>
        <c:ser>
          <c:idx val="1"/>
          <c:order val="1"/>
          <c:tx>
            <c:strRef>
              <c:f>Sheet1!$C$1</c:f>
              <c:strCache>
                <c:ptCount val="1"/>
                <c:pt idx="0">
                  <c:v>Test non lineare</c:v>
                </c:pt>
              </c:strCache>
            </c:strRef>
          </c:tx>
          <c:spPr>
            <a:solidFill>
              <a:srgbClr val="FF6B4A"/>
            </a:solidFill>
            <a:effectLst/>
          </c:spPr>
          <c:invertIfNegative val="0"/>
          <c:dLbls>
            <c:numFmt formatCode="0.0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 → P</c:v>
                </c:pt>
                <c:pt idx="1">
                  <c:v>P → H</c:v>
                </c:pt>
              </c:strCache>
            </c:strRef>
          </c:cat>
          <c:val>
            <c:numRef>
              <c:f>Sheet1!$C$2:$C$3</c:f>
              <c:numCache>
                <c:formatCode>General</c:formatCode>
                <c:ptCount val="2"/>
                <c:pt idx="0">
                  <c:v>7.2060000000000004</c:v>
                </c:pt>
                <c:pt idx="1">
                  <c:v>6.0549999999999997</c:v>
                </c:pt>
              </c:numCache>
            </c:numRef>
          </c:val>
          <c:extLst>
            <c:ext xmlns:c16="http://schemas.microsoft.com/office/drawing/2014/chart" uri="{C3380CC4-5D6E-409C-BE32-E72D297353CC}">
              <c16:uniqueId val="{00000001-DDC2-40CC-8B51-B35E0C5E15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8DECE"/>
            </a:solidFill>
            <a:prstDash val="solid"/>
            <a:round/>
          </a:ln>
        </c:spPr>
        <c:txPr>
          <a:bodyPr/>
          <a:lstStyle/>
          <a:p>
            <a:pPr>
              <a:defRPr sz="1200" b="0" i="0" u="none" strike="noStrike">
                <a:solidFill>
                  <a:srgbClr val="2629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Statistica del test (Bitcoin → Domanda elettrica)</c:v>
                </c:pt>
              </c:strCache>
            </c:strRef>
          </c:tx>
          <c:spPr>
            <a:solidFill>
              <a:srgbClr val="2E4374"/>
            </a:solidFill>
            <a:effectLst/>
          </c:spPr>
          <c:invertIfNegative val="0"/>
          <c:dPt>
            <c:idx val="0"/>
            <c:invertIfNegative val="0"/>
            <c:bubble3D val="0"/>
            <c:extLst>
              <c:ext xmlns:c16="http://schemas.microsoft.com/office/drawing/2014/chart" uri="{C3380CC4-5D6E-409C-BE32-E72D297353CC}">
                <c16:uniqueId val="{00000001-C265-42BC-9F41-EFB650472771}"/>
              </c:ext>
            </c:extLst>
          </c:dPt>
          <c:dPt>
            <c:idx val="1"/>
            <c:invertIfNegative val="0"/>
            <c:bubble3D val="0"/>
            <c:extLst>
              <c:ext xmlns:c16="http://schemas.microsoft.com/office/drawing/2014/chart" uri="{C3380CC4-5D6E-409C-BE32-E72D297353CC}">
                <c16:uniqueId val="{00000003-C265-42BC-9F41-EFB650472771}"/>
              </c:ext>
            </c:extLst>
          </c:dPt>
          <c:dPt>
            <c:idx val="2"/>
            <c:invertIfNegative val="0"/>
            <c:bubble3D val="0"/>
            <c:spPr>
              <a:solidFill>
                <a:srgbClr val="9CA3AF"/>
              </a:solidFill>
              <a:effectLst/>
            </c:spPr>
            <c:extLst>
              <c:ext xmlns:c16="http://schemas.microsoft.com/office/drawing/2014/chart" uri="{C3380CC4-5D6E-409C-BE32-E72D297353CC}">
                <c16:uniqueId val="{00000005-C265-42BC-9F41-EFB650472771}"/>
              </c:ext>
            </c:extLst>
          </c:dPt>
          <c:dPt>
            <c:idx val="3"/>
            <c:invertIfNegative val="0"/>
            <c:bubble3D val="0"/>
            <c:extLst>
              <c:ext xmlns:c16="http://schemas.microsoft.com/office/drawing/2014/chart" uri="{C3380CC4-5D6E-409C-BE32-E72D297353CC}">
                <c16:uniqueId val="{00000007-C265-42BC-9F41-EFB650472771}"/>
              </c:ext>
            </c:extLst>
          </c:dPt>
          <c:dPt>
            <c:idx val="4"/>
            <c:invertIfNegative val="0"/>
            <c:bubble3D val="0"/>
            <c:extLst>
              <c:ext xmlns:c16="http://schemas.microsoft.com/office/drawing/2014/chart" uri="{C3380CC4-5D6E-409C-BE32-E72D297353CC}">
                <c16:uniqueId val="{00000009-C265-42BC-9F41-EFB650472771}"/>
              </c:ext>
            </c:extLst>
          </c:dPt>
          <c:dLbls>
            <c:numFmt formatCode="0.0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Globale</c:v>
                </c:pt>
                <c:pt idx="1">
                  <c:v>Q25</c:v>
                </c:pt>
                <c:pt idx="2">
                  <c:v>Q50</c:v>
                </c:pt>
                <c:pt idx="3">
                  <c:v>Q75</c:v>
                </c:pt>
                <c:pt idx="4">
                  <c:v>Q100</c:v>
                </c:pt>
              </c:strCache>
            </c:strRef>
          </c:cat>
          <c:val>
            <c:numRef>
              <c:f>Sheet1!$B$2:$B$6</c:f>
              <c:numCache>
                <c:formatCode>General</c:formatCode>
                <c:ptCount val="5"/>
                <c:pt idx="0">
                  <c:v>3.3410000000000002</c:v>
                </c:pt>
                <c:pt idx="1">
                  <c:v>5.4530000000000003</c:v>
                </c:pt>
                <c:pt idx="2">
                  <c:v>0.161</c:v>
                </c:pt>
                <c:pt idx="3">
                  <c:v>4.5599999999999996</c:v>
                </c:pt>
                <c:pt idx="4">
                  <c:v>4.6660000000000004</c:v>
                </c:pt>
              </c:numCache>
            </c:numRef>
          </c:val>
          <c:extLst>
            <c:ext xmlns:c16="http://schemas.microsoft.com/office/drawing/2014/chart" uri="{C3380CC4-5D6E-409C-BE32-E72D297353CC}">
              <c16:uniqueId val="{0000000A-C265-42BC-9F41-EFB65047277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8DECE"/>
            </a:solidFill>
            <a:prstDash val="solid"/>
            <a:round/>
          </a:ln>
        </c:spPr>
        <c:txPr>
          <a:bodyPr/>
          <a:lstStyle/>
          <a:p>
            <a:pPr>
              <a:defRPr sz="1200" b="0" i="0" u="none" strike="noStrike">
                <a:solidFill>
                  <a:srgbClr val="2629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Wald — Domanda elettrica → Volatilità Bitcoin</c:v>
                </c:pt>
              </c:strCache>
            </c:strRef>
          </c:tx>
          <c:spPr>
            <a:solidFill>
              <a:srgbClr val="2E4374"/>
            </a:solidFill>
            <a:effectLst/>
          </c:spPr>
          <c:invertIfNegative val="0"/>
          <c:dPt>
            <c:idx val="0"/>
            <c:invertIfNegative val="0"/>
            <c:bubble3D val="0"/>
            <c:spPr>
              <a:solidFill>
                <a:srgbClr val="2E4374"/>
              </a:solidFill>
              <a:effectLst/>
            </c:spPr>
            <c:extLst>
              <c:ext xmlns:c16="http://schemas.microsoft.com/office/drawing/2014/chart" uri="{C3380CC4-5D6E-409C-BE32-E72D297353CC}">
                <c16:uniqueId val="{00000001-8336-4254-8127-C50D7BB25CD1}"/>
              </c:ext>
            </c:extLst>
          </c:dPt>
          <c:dPt>
            <c:idx val="1"/>
            <c:invertIfNegative val="0"/>
            <c:bubble3D val="0"/>
            <c:spPr>
              <a:solidFill>
                <a:srgbClr val="2E4374"/>
              </a:solidFill>
              <a:effectLst/>
            </c:spPr>
            <c:extLst>
              <c:ext xmlns:c16="http://schemas.microsoft.com/office/drawing/2014/chart" uri="{C3380CC4-5D6E-409C-BE32-E72D297353CC}">
                <c16:uniqueId val="{00000003-8336-4254-8127-C50D7BB25CD1}"/>
              </c:ext>
            </c:extLst>
          </c:dPt>
          <c:dPt>
            <c:idx val="2"/>
            <c:invertIfNegative val="0"/>
            <c:bubble3D val="0"/>
            <c:spPr>
              <a:solidFill>
                <a:srgbClr val="2E4374"/>
              </a:solidFill>
              <a:effectLst/>
            </c:spPr>
            <c:extLst>
              <c:ext xmlns:c16="http://schemas.microsoft.com/office/drawing/2014/chart" uri="{C3380CC4-5D6E-409C-BE32-E72D297353CC}">
                <c16:uniqueId val="{00000005-8336-4254-8127-C50D7BB25CD1}"/>
              </c:ext>
            </c:extLst>
          </c:dPt>
          <c:dPt>
            <c:idx val="3"/>
            <c:invertIfNegative val="0"/>
            <c:bubble3D val="0"/>
            <c:spPr>
              <a:solidFill>
                <a:srgbClr val="FF6B4A"/>
              </a:solidFill>
              <a:effectLst/>
            </c:spPr>
            <c:extLst>
              <c:ext xmlns:c16="http://schemas.microsoft.com/office/drawing/2014/chart" uri="{C3380CC4-5D6E-409C-BE32-E72D297353CC}">
                <c16:uniqueId val="{00000007-8336-4254-8127-C50D7BB25CD1}"/>
              </c:ext>
            </c:extLst>
          </c:dPt>
          <c:dLbls>
            <c:numFmt formatCode="0.0" sourceLinked="0"/>
            <c:spPr>
              <a:noFill/>
              <a:ln>
                <a:noFill/>
              </a:ln>
              <a:effectLst/>
            </c:spPr>
            <c:txPr>
              <a:bodyPr/>
              <a:lstStyle/>
              <a:p>
                <a:pPr>
                  <a:defRPr sz="1100" b="0" i="0" u="none" strike="noStrike">
                    <a:solidFill>
                      <a:srgbClr val="26293A"/>
                    </a:solidFill>
                    <a:latin typeface="Calibri"/>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Q25</c:v>
                </c:pt>
                <c:pt idx="1">
                  <c:v>Q50</c:v>
                </c:pt>
                <c:pt idx="2">
                  <c:v>Q75</c:v>
                </c:pt>
                <c:pt idx="3">
                  <c:v>Q100</c:v>
                </c:pt>
              </c:strCache>
            </c:strRef>
          </c:cat>
          <c:val>
            <c:numRef>
              <c:f>Sheet1!$B$2:$B$5</c:f>
              <c:numCache>
                <c:formatCode>General</c:formatCode>
                <c:ptCount val="4"/>
                <c:pt idx="0">
                  <c:v>152.6</c:v>
                </c:pt>
                <c:pt idx="1">
                  <c:v>187.5</c:v>
                </c:pt>
                <c:pt idx="2">
                  <c:v>230.4</c:v>
                </c:pt>
                <c:pt idx="3">
                  <c:v>592.1</c:v>
                </c:pt>
              </c:numCache>
            </c:numRef>
          </c:val>
          <c:extLst>
            <c:ext xmlns:c16="http://schemas.microsoft.com/office/drawing/2014/chart" uri="{C3380CC4-5D6E-409C-BE32-E72D297353CC}">
              <c16:uniqueId val="{00000008-8336-4254-8127-C50D7BB25CD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8DECE"/>
            </a:solidFill>
            <a:prstDash val="solid"/>
            <a:round/>
          </a:ln>
        </c:spPr>
        <c:txPr>
          <a:bodyPr/>
          <a:lstStyle/>
          <a:p>
            <a:pPr>
              <a:defRPr sz="1200" b="0" i="0" u="none" strike="noStrike">
                <a:solidFill>
                  <a:srgbClr val="2629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832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Introduzione: oggi parliamo di un articolo del 2024 pubblicato su Heliyon che collega due mondi apparentemente lontani, il mercato mondiale dell'elettricità e il mercato delle criptovalute (Bitcoin ed Ethereum). Gli autori (Okorie, Gnatchiglo, Wesseh) analizzano quasi 7 anni di dati giornalieri e 89 paesi per capire se, e come, questi due mercati si influenzano a vicenda.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mining di Bitcoin è una gara computazionale (Proof of Work). L'hash rate misura quanti tentativi al secondo fa l'intera rete. Tra il 60 e l'80% dei ricavi del mining se ne va in bolletta elettrica, quindi i miner cercano sempre i paesi con elettricità più economica. Uno studio del 2018 (Elite Fixtures, ripreso da Investopedia) ha stimato il costo di minare un Bitcoin in 115 paesi: da 1.190$ a Trinidad e Tobago fino a 26.170$ in Corea del Sud.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studio cerca due forme distinte di legame. La prima è predittiva (lead-lag): il passato di un mercato aiuta a prevedere il futuro dell'altro? La seconda riguarda la volatilità: le turbolenze di un mercato si trasmettono all'altro?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serie storiche giornaliere: prezzo Bitcoin dal 28 aprile 2013, prezzo Ethereum dal 7 agosto 2015, hash rate di entrambe per gli stessi periodi, tutto fino al 26 novembre 2019. La domanda di elettricità di 89 paesi viene dagli indicatori della Banca Mondiale su base annuale, trasformata in serie giornaliera con il metodo Denton-Cholette.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89 paesi vengono divisi in quattro quartili in base al costo stimato per minare un Bitcoin: Q25 (più economico, fino a 4.329$), Q50, Q75, Q100 (più costoso, fino a 26.170$).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Causalità alla Granger: una serie A 'causa alla Granger' una serie B se conoscere il passato di A migliora la previsione del futuro di B. Gli autori usano un modello VAR e due test: uno parametrico/lineare e uno non parametrico (Diks e Panchenko). La seconda domanda riguarda la volatilità: si stima con un modello GJR-BEKK e si testa con un test di Wald.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Più hash rate significa più nuove monete immesse sul mercato, il che influenza il prezzo; un prezzo più alto rende il mining più profittevole e attira nuovi miner. Per Bitcoin, l'effetto 'prezzo che spinge nuovi miner' emerge solo nel test non lineare. Per Ethereum, mercato più giovane nel periodo analizzato, il ciclo prezzo-mining è pienamente bidirezionale.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test lineare rileva un legame Rendimento Bitcoin -&gt; Domanda di elettricità significativo a livello globale e in tre dei quattro quartili (Q25, Q75, Q100); solo Q50 non risulta significativo. Per Ethereum non emerge nulla, in nessun gruppo.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tutti e quattro i quartili, la volatilità della domanda di elettricità si trasmette in modo significativo sia al mercato di Bitcoin sia a quello di Ethereum; in nessun quartile si osserva l'effetto inverso. Possibile spiegazione tecnica: il continuo miglioramento dell'efficienza energetica dell'hardware ASIC attenua l'impatto delle oscillazioni cripto sul consumo elettrico complessivo.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gli investitori: monitorare hash rate e prezzo, l'uno per anticipare l'altro. Per i governi: tariffe più alte quando i rendimenti di Bitcoin crescono, o imposte mirate, o energia pulita dedicata ai miner. A livello globale: nessun paese è davvero al riparo dai rally di Bitcoin, perché i miner sono mobili.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studio dimostra che il legame tra elettricità e criptovalute è reale, misurabile e articolato su più livelli. Il messaggio di fondo: l'impatto elettrico del mining non è un fenomeno localizzato, ma globalmente connesso, e questo rafforza la necessità di politiche orientate a energia pulita dedicata al mining.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ELETTRICITÀ &amp; CRIPTOVALUTE — UN CONTRIBUTO EMPIRICO</a:t>
            </a:r>
            <a:endParaRPr lang="en-US" sz="1200" dirty="0"/>
          </a:p>
        </p:txBody>
      </p:sp>
      <p:sp>
        <p:nvSpPr>
          <p:cNvPr id="5" name="Text 3"/>
          <p:cNvSpPr txBox="1"/>
          <p:nvPr/>
        </p:nvSpPr>
        <p:spPr>
          <a:xfrm>
            <a:off x="594360" y="1965960"/>
            <a:ext cx="8412480" cy="1737360"/>
          </a:xfrm>
          <a:prstGeom prst="rect">
            <a:avLst/>
          </a:prstGeom>
          <a:noFill/>
          <a:ln/>
        </p:spPr>
        <p:txBody>
          <a:bodyPr wrap="square" lIns="0" tIns="0" rIns="0" bIns="0" rtlCol="0" anchor="ctr"/>
          <a:lstStyle/>
          <a:p>
            <a:pPr marL="0" indent="0">
              <a:lnSpc>
                <a:spcPts val="4400"/>
              </a:lnSpc>
              <a:buNone/>
            </a:pPr>
            <a:r>
              <a:rPr lang="en-US" sz="4000" b="1" dirty="0">
                <a:solidFill>
                  <a:srgbClr val="2E4374"/>
                </a:solidFill>
                <a:latin typeface="Verdana" pitchFamily="34" charset="0"/>
                <a:ea typeface="Verdana" pitchFamily="34" charset="-122"/>
                <a:cs typeface="Verdana" pitchFamily="34" charset="-120"/>
              </a:rPr>
              <a:t>ELETTRICITÀ E </a:t>
            </a:r>
            <a:r>
              <a:rPr lang="en-US" sz="4000" b="1" dirty="0">
                <a:solidFill>
                  <a:srgbClr val="FF6B4A"/>
                </a:solidFill>
                <a:latin typeface="Verdana" pitchFamily="34" charset="0"/>
                <a:ea typeface="Verdana" pitchFamily="34" charset="-122"/>
                <a:cs typeface="Verdana" pitchFamily="34" charset="-120"/>
              </a:rPr>
              <a:t>CRIPTOVALUTE</a:t>
            </a:r>
            <a:endParaRPr lang="en-US" sz="4000" dirty="0"/>
          </a:p>
        </p:txBody>
      </p:sp>
      <p:sp>
        <p:nvSpPr>
          <p:cNvPr id="6" name="Text 4"/>
          <p:cNvSpPr txBox="1"/>
          <p:nvPr/>
        </p:nvSpPr>
        <p:spPr>
          <a:xfrm>
            <a:off x="612648" y="3520440"/>
            <a:ext cx="7223760" cy="914400"/>
          </a:xfrm>
          <a:prstGeom prst="rect">
            <a:avLst/>
          </a:prstGeom>
          <a:noFill/>
          <a:ln/>
        </p:spPr>
        <p:txBody>
          <a:bodyPr wrap="square" lIns="0" tIns="0" rIns="0" bIns="0" rtlCol="0" anchor="ctr"/>
          <a:lstStyle/>
          <a:p>
            <a:pPr marL="0" indent="0">
              <a:lnSpc>
                <a:spcPts val="2200"/>
              </a:lnSpc>
              <a:buNone/>
            </a:pPr>
            <a:r>
              <a:rPr lang="en-US" sz="1650" i="1" dirty="0">
                <a:solidFill>
                  <a:srgbClr val="6B7280"/>
                </a:solidFill>
                <a:latin typeface="Calibri" pitchFamily="34" charset="0"/>
                <a:ea typeface="Calibri" pitchFamily="34" charset="-122"/>
                <a:cs typeface="Calibri" pitchFamily="34" charset="-120"/>
              </a:rPr>
              <a:t>Che cosa lega davvero il mercato mondiale dell'elettricità a Bitcoin ed Ethereum? Un'analisi empirica su 89 paesi e sette anni di dati giornalieri.</a:t>
            </a:r>
            <a:endParaRPr lang="en-US" sz="1650" dirty="0"/>
          </a:p>
        </p:txBody>
      </p:sp>
      <p:sp>
        <p:nvSpPr>
          <p:cNvPr id="7" name="Text 5"/>
          <p:cNvSpPr txBox="1"/>
          <p:nvPr/>
        </p:nvSpPr>
        <p:spPr>
          <a:xfrm>
            <a:off x="612648" y="5989320"/>
            <a:ext cx="7315200" cy="320040"/>
          </a:xfrm>
          <a:prstGeom prst="rect">
            <a:avLst/>
          </a:prstGeom>
          <a:noFill/>
          <a:ln/>
        </p:spPr>
        <p:txBody>
          <a:bodyPr wrap="square" lIns="0" tIns="0" rIns="0" bIns="0" rtlCol="0" anchor="ctr"/>
          <a:lstStyle/>
          <a:p>
            <a:pPr marL="0" indent="0">
              <a:buNone/>
            </a:pPr>
            <a:r>
              <a:rPr lang="en-US" sz="1200" dirty="0">
                <a:solidFill>
                  <a:srgbClr val="9CA3AF"/>
                </a:solidFill>
                <a:latin typeface="Calibri" pitchFamily="34" charset="0"/>
                <a:ea typeface="Calibri" pitchFamily="34" charset="-122"/>
                <a:cs typeface="Calibri" pitchFamily="34" charset="-120"/>
              </a:rPr>
              <a:t>Okorie, Gnatchiglo &amp; Wesseh (2024) — Heliyon, 10, e33483</a:t>
            </a:r>
            <a:endParaRPr lang="en-US" sz="1200" dirty="0"/>
          </a:p>
        </p:txBody>
      </p:sp>
      <p:sp>
        <p:nvSpPr>
          <p:cNvPr id="8" name="Text 6"/>
          <p:cNvSpPr txBox="1"/>
          <p:nvPr/>
        </p:nvSpPr>
        <p:spPr>
          <a:xfrm>
            <a:off x="429768" y="6309360"/>
            <a:ext cx="8412480" cy="411480"/>
          </a:xfrm>
          <a:prstGeom prst="rect">
            <a:avLst/>
          </a:prstGeom>
          <a:noFill/>
          <a:ln/>
        </p:spPr>
        <p:txBody>
          <a:bodyPr wrap="square" lIns="0" tIns="0" rIns="0" bIns="0" rtlCol="0" anchor="ctr"/>
          <a:lstStyle/>
          <a:p>
            <a:pPr marL="0" indent="0">
              <a:buNone/>
            </a:pPr>
            <a:r>
              <a:rPr lang="en-US" sz="1200" b="1" dirty="0">
                <a:solidFill>
                  <a:srgbClr val="26293A"/>
                </a:solidFill>
                <a:latin typeface="Calibri" pitchFamily="34" charset="0"/>
                <a:ea typeface="Calibri" pitchFamily="34" charset="-122"/>
                <a:cs typeface="Calibri" pitchFamily="34" charset="-120"/>
              </a:rPr>
              <a:t>[Luca Camiolo -  1000084790</a:t>
            </a:r>
          </a:p>
          <a:p>
            <a:pPr marL="0" indent="0">
              <a:buNone/>
            </a:pPr>
            <a:r>
              <a:rPr lang="en-US" sz="1200" b="1" dirty="0">
                <a:solidFill>
                  <a:srgbClr val="26293A"/>
                </a:solidFill>
                <a:latin typeface="Calibri" pitchFamily="34" charset="0"/>
                <a:ea typeface="Calibri" pitchFamily="34" charset="-122"/>
                <a:cs typeface="Calibri" pitchFamily="34" charset="-120"/>
              </a:rPr>
              <a:t> Corso di Laurea Magistrale in </a:t>
            </a:r>
            <a:r>
              <a:rPr lang="en-US" sz="1200" b="1" dirty="0" err="1">
                <a:solidFill>
                  <a:srgbClr val="26293A"/>
                </a:solidFill>
                <a:latin typeface="Calibri" pitchFamily="34" charset="0"/>
                <a:ea typeface="Calibri" pitchFamily="34" charset="-122"/>
                <a:cs typeface="Calibri" pitchFamily="34" charset="-120"/>
              </a:rPr>
              <a:t>Ingegneria</a:t>
            </a:r>
            <a:r>
              <a:rPr lang="en-US" sz="1200" b="1" dirty="0">
                <a:solidFill>
                  <a:srgbClr val="26293A"/>
                </a:solidFill>
                <a:latin typeface="Calibri" pitchFamily="34" charset="0"/>
                <a:ea typeface="Calibri" pitchFamily="34" charset="-122"/>
                <a:cs typeface="Calibri" pitchFamily="34" charset="-120"/>
              </a:rPr>
              <a:t> Informatica</a:t>
            </a:r>
            <a:endParaRPr lang="en-US" sz="1200" dirty="0"/>
          </a:p>
        </p:txBody>
      </p:sp>
      <p:sp>
        <p:nvSpPr>
          <p:cNvPr id="9" name="Shape 7"/>
          <p:cNvSpPr/>
          <p:nvPr/>
        </p:nvSpPr>
        <p:spPr>
          <a:xfrm>
            <a:off x="9281160" y="2331720"/>
            <a:ext cx="1234440" cy="1234440"/>
          </a:xfrm>
          <a:prstGeom prst="ellipse">
            <a:avLst/>
          </a:prstGeom>
          <a:solidFill>
            <a:srgbClr val="2E4374"/>
          </a:solidFill>
          <a:ln/>
        </p:spPr>
        <p:txBody>
          <a:bodyPr/>
          <a:lstStyle/>
          <a:p>
            <a:endParaRPr lang="it-IT"/>
          </a:p>
        </p:txBody>
      </p:sp>
      <p:pic>
        <p:nvPicPr>
          <p:cNvPr id="10" name="Image 0" descr="icons/bolt_white.png"/>
          <p:cNvPicPr>
            <a:picLocks noChangeAspect="1"/>
          </p:cNvPicPr>
          <p:nvPr/>
        </p:nvPicPr>
        <p:blipFill>
          <a:blip r:embed="rId3"/>
          <a:stretch>
            <a:fillRect/>
          </a:stretch>
        </p:blipFill>
        <p:spPr>
          <a:xfrm>
            <a:off x="9441637" y="2492197"/>
            <a:ext cx="913486" cy="913486"/>
          </a:xfrm>
          <a:prstGeom prst="rect">
            <a:avLst/>
          </a:prstGeom>
        </p:spPr>
      </p:pic>
      <p:sp>
        <p:nvSpPr>
          <p:cNvPr id="11" name="Shape 8"/>
          <p:cNvSpPr/>
          <p:nvPr/>
        </p:nvSpPr>
        <p:spPr>
          <a:xfrm>
            <a:off x="9281160" y="3977640"/>
            <a:ext cx="1234440" cy="1234440"/>
          </a:xfrm>
          <a:prstGeom prst="ellipse">
            <a:avLst/>
          </a:prstGeom>
          <a:solidFill>
            <a:srgbClr val="FF6B4A"/>
          </a:solidFill>
          <a:ln/>
        </p:spPr>
        <p:txBody>
          <a:bodyPr/>
          <a:lstStyle/>
          <a:p>
            <a:endParaRPr lang="it-IT"/>
          </a:p>
        </p:txBody>
      </p:sp>
      <p:pic>
        <p:nvPicPr>
          <p:cNvPr id="12" name="Image 1" descr="icons/bitcoin_white.png"/>
          <p:cNvPicPr>
            <a:picLocks noChangeAspect="1"/>
          </p:cNvPicPr>
          <p:nvPr/>
        </p:nvPicPr>
        <p:blipFill>
          <a:blip r:embed="rId4"/>
          <a:stretch>
            <a:fillRect/>
          </a:stretch>
        </p:blipFill>
        <p:spPr>
          <a:xfrm>
            <a:off x="9441637" y="4138117"/>
            <a:ext cx="913486" cy="913486"/>
          </a:xfrm>
          <a:prstGeom prst="rect">
            <a:avLst/>
          </a:prstGeom>
        </p:spPr>
      </p:pic>
      <p:sp>
        <p:nvSpPr>
          <p:cNvPr id="13" name="Shape 9"/>
          <p:cNvSpPr/>
          <p:nvPr/>
        </p:nvSpPr>
        <p:spPr>
          <a:xfrm>
            <a:off x="9898380" y="3611880"/>
            <a:ext cx="9144" cy="338328"/>
          </a:xfrm>
          <a:prstGeom prst="line">
            <a:avLst/>
          </a:prstGeom>
          <a:noFill/>
          <a:ln w="31750">
            <a:solidFill>
              <a:srgbClr val="6B7280"/>
            </a:solidFill>
            <a:prstDash val="solid"/>
            <a:headEnd type="triangle"/>
            <a:tailEnd type="triangle"/>
          </a:ln>
        </p:spPr>
        <p:txBody>
          <a:bodyPr/>
          <a:lstStyle/>
          <a:p>
            <a:endParaRPr lang="it-IT"/>
          </a:p>
        </p:txBody>
      </p:sp>
      <p:sp>
        <p:nvSpPr>
          <p:cNvPr id="14" name="Text 10"/>
          <p:cNvSpPr txBox="1"/>
          <p:nvPr/>
        </p:nvSpPr>
        <p:spPr>
          <a:xfrm>
            <a:off x="8732520" y="1965960"/>
            <a:ext cx="123444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energia</a:t>
            </a:r>
            <a:endParaRPr lang="en-US" sz="1050" dirty="0"/>
          </a:p>
        </p:txBody>
      </p:sp>
      <p:sp>
        <p:nvSpPr>
          <p:cNvPr id="15" name="Text 11"/>
          <p:cNvSpPr txBox="1"/>
          <p:nvPr/>
        </p:nvSpPr>
        <p:spPr>
          <a:xfrm>
            <a:off x="8732520" y="5257800"/>
            <a:ext cx="123444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cripto</a:t>
            </a:r>
            <a:endParaRPr lang="en-US" sz="1050" dirty="0"/>
          </a:p>
        </p:txBody>
      </p:sp>
      <p:sp>
        <p:nvSpPr>
          <p:cNvPr id="16" name="Text 1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IL CONTESTO</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Il mining ha bisogno di elettricità</a:t>
            </a:r>
            <a:endParaRPr lang="en-US" sz="2700" dirty="0"/>
          </a:p>
        </p:txBody>
      </p:sp>
      <p:sp>
        <p:nvSpPr>
          <p:cNvPr id="6" name="Shape 4"/>
          <p:cNvSpPr/>
          <p:nvPr/>
        </p:nvSpPr>
        <p:spPr>
          <a:xfrm>
            <a:off x="594360" y="1874520"/>
            <a:ext cx="502920" cy="502920"/>
          </a:xfrm>
          <a:prstGeom prst="ellipse">
            <a:avLst/>
          </a:prstGeom>
          <a:solidFill>
            <a:srgbClr val="2E4374"/>
          </a:solidFill>
          <a:ln/>
        </p:spPr>
        <p:txBody>
          <a:bodyPr/>
          <a:lstStyle/>
          <a:p>
            <a:endParaRPr lang="it-IT"/>
          </a:p>
        </p:txBody>
      </p:sp>
      <p:pic>
        <p:nvPicPr>
          <p:cNvPr id="7" name="Image 0" descr="icons/server_white.png"/>
          <p:cNvPicPr>
            <a:picLocks noChangeAspect="1"/>
          </p:cNvPicPr>
          <p:nvPr/>
        </p:nvPicPr>
        <p:blipFill>
          <a:blip r:embed="rId3"/>
          <a:stretch>
            <a:fillRect/>
          </a:stretch>
        </p:blipFill>
        <p:spPr>
          <a:xfrm>
            <a:off x="659740" y="1939900"/>
            <a:ext cx="372161" cy="372161"/>
          </a:xfrm>
          <a:prstGeom prst="rect">
            <a:avLst/>
          </a:prstGeom>
        </p:spPr>
      </p:pic>
      <p:sp>
        <p:nvSpPr>
          <p:cNvPr id="8" name="Text 5"/>
          <p:cNvSpPr txBox="1"/>
          <p:nvPr/>
        </p:nvSpPr>
        <p:spPr>
          <a:xfrm>
            <a:off x="1280160" y="1837944"/>
            <a:ext cx="5349240" cy="310896"/>
          </a:xfrm>
          <a:prstGeom prst="rect">
            <a:avLst/>
          </a:prstGeom>
          <a:noFill/>
          <a:ln/>
        </p:spPr>
        <p:txBody>
          <a:bodyPr wrap="square" lIns="0" tIns="0" rIns="0" bIns="0" rtlCol="0" anchor="ctr"/>
          <a:lstStyle/>
          <a:p>
            <a:pPr marL="0" indent="0">
              <a:buNone/>
            </a:pPr>
            <a:r>
              <a:rPr lang="en-US" sz="1500" b="1" dirty="0">
                <a:solidFill>
                  <a:srgbClr val="2E4374"/>
                </a:solidFill>
                <a:latin typeface="Calibri" pitchFamily="34" charset="0"/>
                <a:ea typeface="Calibri" pitchFamily="34" charset="-122"/>
                <a:cs typeface="Calibri" pitchFamily="34" charset="-120"/>
              </a:rPr>
              <a:t>Proof of Work</a:t>
            </a:r>
            <a:endParaRPr lang="en-US" sz="1500" dirty="0"/>
          </a:p>
        </p:txBody>
      </p:sp>
      <p:sp>
        <p:nvSpPr>
          <p:cNvPr id="9" name="Text 6"/>
          <p:cNvSpPr txBox="1"/>
          <p:nvPr/>
        </p:nvSpPr>
        <p:spPr>
          <a:xfrm>
            <a:off x="1280160" y="2148840"/>
            <a:ext cx="5349240" cy="59436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Migliaia di macchine competono per risolvere un problema crittografico e validare nuovi blocchi.</a:t>
            </a:r>
            <a:endParaRPr lang="en-US" sz="1250" dirty="0"/>
          </a:p>
        </p:txBody>
      </p:sp>
      <p:sp>
        <p:nvSpPr>
          <p:cNvPr id="10" name="Shape 7"/>
          <p:cNvSpPr/>
          <p:nvPr/>
        </p:nvSpPr>
        <p:spPr>
          <a:xfrm>
            <a:off x="594360" y="2971800"/>
            <a:ext cx="502920" cy="502920"/>
          </a:xfrm>
          <a:prstGeom prst="ellipse">
            <a:avLst/>
          </a:prstGeom>
          <a:solidFill>
            <a:srgbClr val="2E4374"/>
          </a:solidFill>
          <a:ln/>
        </p:spPr>
        <p:txBody>
          <a:bodyPr/>
          <a:lstStyle/>
          <a:p>
            <a:endParaRPr lang="it-IT"/>
          </a:p>
        </p:txBody>
      </p:sp>
      <p:pic>
        <p:nvPicPr>
          <p:cNvPr id="11" name="Image 1" descr="icons/chip_white.png"/>
          <p:cNvPicPr>
            <a:picLocks noChangeAspect="1"/>
          </p:cNvPicPr>
          <p:nvPr/>
        </p:nvPicPr>
        <p:blipFill>
          <a:blip r:embed="rId4"/>
          <a:stretch>
            <a:fillRect/>
          </a:stretch>
        </p:blipFill>
        <p:spPr>
          <a:xfrm>
            <a:off x="659740" y="3037180"/>
            <a:ext cx="372161" cy="372161"/>
          </a:xfrm>
          <a:prstGeom prst="rect">
            <a:avLst/>
          </a:prstGeom>
        </p:spPr>
      </p:pic>
      <p:sp>
        <p:nvSpPr>
          <p:cNvPr id="12" name="Text 8"/>
          <p:cNvSpPr txBox="1"/>
          <p:nvPr/>
        </p:nvSpPr>
        <p:spPr>
          <a:xfrm>
            <a:off x="1280160" y="2935224"/>
            <a:ext cx="5349240" cy="310896"/>
          </a:xfrm>
          <a:prstGeom prst="rect">
            <a:avLst/>
          </a:prstGeom>
          <a:noFill/>
          <a:ln/>
        </p:spPr>
        <p:txBody>
          <a:bodyPr wrap="square" lIns="0" tIns="0" rIns="0" bIns="0" rtlCol="0" anchor="ctr"/>
          <a:lstStyle/>
          <a:p>
            <a:pPr marL="0" indent="0">
              <a:buNone/>
            </a:pPr>
            <a:r>
              <a:rPr lang="en-US" sz="1500" b="1" dirty="0">
                <a:solidFill>
                  <a:srgbClr val="2E4374"/>
                </a:solidFill>
                <a:latin typeface="Calibri" pitchFamily="34" charset="0"/>
                <a:ea typeface="Calibri" pitchFamily="34" charset="-122"/>
                <a:cs typeface="Calibri" pitchFamily="34" charset="-120"/>
              </a:rPr>
              <a:t>Hash rate</a:t>
            </a:r>
            <a:endParaRPr lang="en-US" sz="1500" dirty="0"/>
          </a:p>
        </p:txBody>
      </p:sp>
      <p:sp>
        <p:nvSpPr>
          <p:cNvPr id="13" name="Text 9"/>
          <p:cNvSpPr txBox="1"/>
          <p:nvPr/>
        </p:nvSpPr>
        <p:spPr>
          <a:xfrm>
            <a:off x="1280160" y="3246120"/>
            <a:ext cx="5349240" cy="59436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Conta i tentativi di soluzione calcolati ogni secondo da tutta la rete: più è alto, più mining c'è in corso.</a:t>
            </a:r>
            <a:endParaRPr lang="en-US" sz="1250" dirty="0"/>
          </a:p>
        </p:txBody>
      </p:sp>
      <p:sp>
        <p:nvSpPr>
          <p:cNvPr id="14" name="Shape 10"/>
          <p:cNvSpPr/>
          <p:nvPr/>
        </p:nvSpPr>
        <p:spPr>
          <a:xfrm>
            <a:off x="594360" y="4069080"/>
            <a:ext cx="502920" cy="502920"/>
          </a:xfrm>
          <a:prstGeom prst="ellipse">
            <a:avLst/>
          </a:prstGeom>
          <a:solidFill>
            <a:srgbClr val="FF6B4A"/>
          </a:solidFill>
          <a:ln/>
        </p:spPr>
        <p:txBody>
          <a:bodyPr/>
          <a:lstStyle/>
          <a:p>
            <a:endParaRPr lang="it-IT"/>
          </a:p>
        </p:txBody>
      </p:sp>
      <p:pic>
        <p:nvPicPr>
          <p:cNvPr id="15" name="Image 2" descr="icons/bolt_white.png"/>
          <p:cNvPicPr>
            <a:picLocks noChangeAspect="1"/>
          </p:cNvPicPr>
          <p:nvPr/>
        </p:nvPicPr>
        <p:blipFill>
          <a:blip r:embed="rId5"/>
          <a:stretch>
            <a:fillRect/>
          </a:stretch>
        </p:blipFill>
        <p:spPr>
          <a:xfrm>
            <a:off x="659740" y="4134460"/>
            <a:ext cx="372161" cy="372161"/>
          </a:xfrm>
          <a:prstGeom prst="rect">
            <a:avLst/>
          </a:prstGeom>
        </p:spPr>
      </p:pic>
      <p:sp>
        <p:nvSpPr>
          <p:cNvPr id="16" name="Text 11"/>
          <p:cNvSpPr txBox="1"/>
          <p:nvPr/>
        </p:nvSpPr>
        <p:spPr>
          <a:xfrm>
            <a:off x="1280160" y="4032504"/>
            <a:ext cx="5349240" cy="310896"/>
          </a:xfrm>
          <a:prstGeom prst="rect">
            <a:avLst/>
          </a:prstGeom>
          <a:noFill/>
          <a:ln/>
        </p:spPr>
        <p:txBody>
          <a:bodyPr wrap="square" lIns="0" tIns="0" rIns="0" bIns="0" rtlCol="0" anchor="ctr"/>
          <a:lstStyle/>
          <a:p>
            <a:pPr marL="0" indent="0">
              <a:buNone/>
            </a:pPr>
            <a:r>
              <a:rPr lang="en-US" sz="1500" b="1" dirty="0">
                <a:solidFill>
                  <a:srgbClr val="2E4374"/>
                </a:solidFill>
                <a:latin typeface="Calibri" pitchFamily="34" charset="0"/>
                <a:ea typeface="Calibri" pitchFamily="34" charset="-122"/>
                <a:cs typeface="Calibri" pitchFamily="34" charset="-120"/>
              </a:rPr>
              <a:t>Elettricità</a:t>
            </a:r>
            <a:endParaRPr lang="en-US" sz="1500" dirty="0"/>
          </a:p>
        </p:txBody>
      </p:sp>
      <p:sp>
        <p:nvSpPr>
          <p:cNvPr id="17" name="Text 12"/>
          <p:cNvSpPr txBox="1"/>
          <p:nvPr/>
        </p:nvSpPr>
        <p:spPr>
          <a:xfrm>
            <a:off x="1280160" y="4343400"/>
            <a:ext cx="5349240" cy="59436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L'hardware è il costo fisso iniziale; l'elettricità è il costo variabile che pesa di più nel tempo.</a:t>
            </a:r>
            <a:endParaRPr lang="en-US" sz="1250" dirty="0"/>
          </a:p>
        </p:txBody>
      </p:sp>
      <p:sp>
        <p:nvSpPr>
          <p:cNvPr id="18" name="Shape 13"/>
          <p:cNvSpPr/>
          <p:nvPr/>
        </p:nvSpPr>
        <p:spPr>
          <a:xfrm>
            <a:off x="6949440" y="1874520"/>
            <a:ext cx="4754880" cy="1371600"/>
          </a:xfrm>
          <a:prstGeom prst="roundRect">
            <a:avLst>
              <a:gd name="adj" fmla="val 8000"/>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19" name="Text 14"/>
          <p:cNvSpPr txBox="1"/>
          <p:nvPr/>
        </p:nvSpPr>
        <p:spPr>
          <a:xfrm>
            <a:off x="7223760" y="2011680"/>
            <a:ext cx="4206240" cy="685800"/>
          </a:xfrm>
          <a:prstGeom prst="rect">
            <a:avLst/>
          </a:prstGeom>
          <a:noFill/>
          <a:ln/>
        </p:spPr>
        <p:txBody>
          <a:bodyPr wrap="square" lIns="0" tIns="0" rIns="0" bIns="0" rtlCol="0" anchor="ctr"/>
          <a:lstStyle/>
          <a:p>
            <a:pPr marL="0" indent="0" algn="l">
              <a:buNone/>
            </a:pPr>
            <a:r>
              <a:rPr lang="en-US" sz="2600" b="1" dirty="0">
                <a:solidFill>
                  <a:srgbClr val="2E4374"/>
                </a:solidFill>
                <a:latin typeface="Verdana" pitchFamily="34" charset="0"/>
                <a:ea typeface="Verdana" pitchFamily="34" charset="-122"/>
                <a:cs typeface="Verdana" pitchFamily="34" charset="-120"/>
              </a:rPr>
              <a:t>$1.190 → $26.170</a:t>
            </a:r>
            <a:endParaRPr lang="en-US" sz="2600" dirty="0"/>
          </a:p>
        </p:txBody>
      </p:sp>
      <p:sp>
        <p:nvSpPr>
          <p:cNvPr id="20" name="Text 15"/>
          <p:cNvSpPr txBox="1"/>
          <p:nvPr/>
        </p:nvSpPr>
        <p:spPr>
          <a:xfrm>
            <a:off x="7223760" y="2578608"/>
            <a:ext cx="4206240" cy="640080"/>
          </a:xfrm>
          <a:prstGeom prst="rect">
            <a:avLst/>
          </a:prstGeom>
          <a:noFill/>
          <a:ln/>
        </p:spPr>
        <p:txBody>
          <a:bodyPr wrap="square" lIns="0" tIns="0" rIns="0" bIns="0" rtlCol="0" anchor="ctr"/>
          <a:lstStyle/>
          <a:p>
            <a:pPr marL="0" indent="0" algn="l">
              <a:lnSpc>
                <a:spcPts val="1400"/>
              </a:lnSpc>
              <a:buNone/>
            </a:pPr>
            <a:r>
              <a:rPr lang="en-US" sz="1200" dirty="0">
                <a:solidFill>
                  <a:srgbClr val="6B7280"/>
                </a:solidFill>
                <a:latin typeface="Calibri" pitchFamily="34" charset="0"/>
                <a:ea typeface="Calibri" pitchFamily="34" charset="-122"/>
                <a:cs typeface="Calibri" pitchFamily="34" charset="-120"/>
              </a:rPr>
              <a:t>costo stimato per minare 1 Bitcoin, a seconda del paese (Reiff, 2018 — 115 paesi)</a:t>
            </a:r>
            <a:endParaRPr lang="en-US" sz="1200" dirty="0"/>
          </a:p>
        </p:txBody>
      </p:sp>
      <p:sp>
        <p:nvSpPr>
          <p:cNvPr id="21" name="Shape 16"/>
          <p:cNvSpPr/>
          <p:nvPr/>
        </p:nvSpPr>
        <p:spPr>
          <a:xfrm>
            <a:off x="6949440" y="3474720"/>
            <a:ext cx="2276856" cy="2331720"/>
          </a:xfrm>
          <a:prstGeom prst="roundRect">
            <a:avLst>
              <a:gd name="adj" fmla="val 4819"/>
            </a:avLst>
          </a:prstGeom>
          <a:solidFill>
            <a:srgbClr val="F3EADC"/>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22" name="Shape 17"/>
          <p:cNvSpPr/>
          <p:nvPr/>
        </p:nvSpPr>
        <p:spPr>
          <a:xfrm>
            <a:off x="7173468" y="3621024"/>
            <a:ext cx="1828800" cy="365760"/>
          </a:xfrm>
          <a:prstGeom prst="roundRect">
            <a:avLst>
              <a:gd name="adj" fmla="val 50000"/>
            </a:avLst>
          </a:prstGeom>
          <a:solidFill>
            <a:srgbClr val="9CA3AF"/>
          </a:solidFill>
          <a:ln/>
        </p:spPr>
        <p:txBody>
          <a:bodyPr/>
          <a:lstStyle/>
          <a:p>
            <a:endParaRPr lang="it-IT"/>
          </a:p>
        </p:txBody>
      </p:sp>
      <p:sp>
        <p:nvSpPr>
          <p:cNvPr id="23" name="Text 18"/>
          <p:cNvSpPr txBox="1"/>
          <p:nvPr/>
        </p:nvSpPr>
        <p:spPr>
          <a:xfrm>
            <a:off x="7173468" y="3621024"/>
            <a:ext cx="18288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ASPETTATIVA</a:t>
            </a:r>
            <a:endParaRPr lang="en-US" sz="1050" dirty="0"/>
          </a:p>
        </p:txBody>
      </p:sp>
      <p:sp>
        <p:nvSpPr>
          <p:cNvPr id="24" name="Text 19"/>
          <p:cNvSpPr txBox="1"/>
          <p:nvPr/>
        </p:nvSpPr>
        <p:spPr>
          <a:xfrm>
            <a:off x="6949440" y="4041648"/>
            <a:ext cx="2276856" cy="7772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5" name="Text 20"/>
          <p:cNvSpPr txBox="1"/>
          <p:nvPr/>
        </p:nvSpPr>
        <p:spPr>
          <a:xfrm>
            <a:off x="7132320" y="4846320"/>
            <a:ext cx="1911096" cy="640080"/>
          </a:xfrm>
          <a:prstGeom prst="rect">
            <a:avLst/>
          </a:prstGeom>
          <a:noFill/>
          <a:ln/>
        </p:spPr>
        <p:txBody>
          <a:bodyPr wrap="square" lIns="0" tIns="0" rIns="0" bIns="0" rtlCol="0" anchor="ctr"/>
          <a:lstStyle/>
          <a:p>
            <a:pPr marL="0" indent="0" algn="ctr">
              <a:lnSpc>
                <a:spcPts val="1400"/>
              </a:lnSpc>
              <a:buNone/>
            </a:pPr>
            <a:r>
              <a:rPr lang="en-US" sz="1150" i="1" dirty="0">
                <a:solidFill>
                  <a:srgbClr val="6B7280"/>
                </a:solidFill>
                <a:latin typeface="Calibri" pitchFamily="34" charset="0"/>
                <a:ea typeface="Calibri" pitchFamily="34" charset="-122"/>
                <a:cs typeface="Calibri" pitchFamily="34" charset="-120"/>
              </a:rPr>
              <a:t>“Mino Bitcoin e i soldi son tutti miei”</a:t>
            </a:r>
            <a:endParaRPr lang="en-US" sz="1150" dirty="0"/>
          </a:p>
        </p:txBody>
      </p:sp>
      <p:sp>
        <p:nvSpPr>
          <p:cNvPr id="26" name="Shape 21"/>
          <p:cNvSpPr/>
          <p:nvPr/>
        </p:nvSpPr>
        <p:spPr>
          <a:xfrm>
            <a:off x="9427464" y="3474720"/>
            <a:ext cx="2276856" cy="2331720"/>
          </a:xfrm>
          <a:prstGeom prst="roundRect">
            <a:avLst>
              <a:gd name="adj" fmla="val 4819"/>
            </a:avLst>
          </a:prstGeom>
          <a:solidFill>
            <a:srgbClr val="2E4374"/>
          </a:solidFill>
          <a:ln w="12700">
            <a:solidFill>
              <a:srgbClr val="2E4374"/>
            </a:solidFill>
            <a:prstDash val="solid"/>
          </a:ln>
          <a:effectLst>
            <a:outerShdw blurRad="101600" dist="38100" dir="5400000" algn="bl" rotWithShape="0">
              <a:srgbClr val="8C7A5E">
                <a:alpha val="18000"/>
              </a:srgbClr>
            </a:outerShdw>
          </a:effectLst>
        </p:spPr>
        <p:txBody>
          <a:bodyPr/>
          <a:lstStyle/>
          <a:p>
            <a:endParaRPr lang="it-IT"/>
          </a:p>
        </p:txBody>
      </p:sp>
      <p:sp>
        <p:nvSpPr>
          <p:cNvPr id="27" name="Shape 22"/>
          <p:cNvSpPr/>
          <p:nvPr/>
        </p:nvSpPr>
        <p:spPr>
          <a:xfrm>
            <a:off x="9788652" y="3621024"/>
            <a:ext cx="1554480" cy="365760"/>
          </a:xfrm>
          <a:prstGeom prst="roundRect">
            <a:avLst>
              <a:gd name="adj" fmla="val 50000"/>
            </a:avLst>
          </a:prstGeom>
          <a:solidFill>
            <a:srgbClr val="FF6B4A"/>
          </a:solidFill>
          <a:ln/>
        </p:spPr>
        <p:txBody>
          <a:bodyPr/>
          <a:lstStyle/>
          <a:p>
            <a:endParaRPr lang="it-IT"/>
          </a:p>
        </p:txBody>
      </p:sp>
      <p:sp>
        <p:nvSpPr>
          <p:cNvPr id="28" name="Text 23"/>
          <p:cNvSpPr txBox="1"/>
          <p:nvPr/>
        </p:nvSpPr>
        <p:spPr>
          <a:xfrm>
            <a:off x="9788652" y="3621024"/>
            <a:ext cx="15544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REALTÀ</a:t>
            </a:r>
            <a:endParaRPr lang="en-US" sz="1050" dirty="0"/>
          </a:p>
        </p:txBody>
      </p:sp>
      <p:sp>
        <p:nvSpPr>
          <p:cNvPr id="29" name="Text 24"/>
          <p:cNvSpPr txBox="1"/>
          <p:nvPr/>
        </p:nvSpPr>
        <p:spPr>
          <a:xfrm>
            <a:off x="9427464" y="4041648"/>
            <a:ext cx="2276856" cy="7772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30" name="Text 25"/>
          <p:cNvSpPr txBox="1"/>
          <p:nvPr/>
        </p:nvSpPr>
        <p:spPr>
          <a:xfrm>
            <a:off x="9610344" y="4846320"/>
            <a:ext cx="1911096" cy="640080"/>
          </a:xfrm>
          <a:prstGeom prst="rect">
            <a:avLst/>
          </a:prstGeom>
          <a:noFill/>
          <a:ln/>
        </p:spPr>
        <p:txBody>
          <a:bodyPr wrap="square" lIns="0" tIns="0" rIns="0" bIns="0" rtlCol="0" anchor="ctr"/>
          <a:lstStyle/>
          <a:p>
            <a:pPr marL="0" indent="0" algn="ctr">
              <a:lnSpc>
                <a:spcPts val="1400"/>
              </a:lnSpc>
              <a:buNone/>
            </a:pPr>
            <a:r>
              <a:rPr lang="en-US" sz="1150" b="1" dirty="0">
                <a:solidFill>
                  <a:srgbClr val="FFFFFF"/>
                </a:solidFill>
                <a:latin typeface="Calibri" pitchFamily="34" charset="0"/>
                <a:ea typeface="Calibri" pitchFamily="34" charset="-122"/>
                <a:cs typeface="Calibri" pitchFamily="34" charset="-120"/>
              </a:rPr>
              <a:t>60–80% dei ricavi finisce in bolletta elettrica</a:t>
            </a:r>
            <a:endParaRPr lang="en-US" sz="1150" dirty="0"/>
          </a:p>
        </p:txBody>
      </p:sp>
      <p:sp>
        <p:nvSpPr>
          <p:cNvPr id="31" name="Text 2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LA DOMANDA DI RICERCA</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Due mercati, un ponte da esplorare</a:t>
            </a:r>
            <a:endParaRPr lang="en-US" sz="2700" dirty="0"/>
          </a:p>
        </p:txBody>
      </p:sp>
      <p:sp>
        <p:nvSpPr>
          <p:cNvPr id="6" name="Shape 4"/>
          <p:cNvSpPr/>
          <p:nvPr/>
        </p:nvSpPr>
        <p:spPr>
          <a:xfrm>
            <a:off x="868680" y="2788920"/>
            <a:ext cx="4206240" cy="1371600"/>
          </a:xfrm>
          <a:prstGeom prst="roundRect">
            <a:avLst>
              <a:gd name="adj" fmla="val 6667"/>
            </a:avLst>
          </a:prstGeom>
          <a:solidFill>
            <a:srgbClr val="2E4374"/>
          </a:solidFill>
          <a:ln/>
        </p:spPr>
        <p:txBody>
          <a:bodyPr/>
          <a:lstStyle/>
          <a:p>
            <a:endParaRPr lang="it-IT"/>
          </a:p>
        </p:txBody>
      </p:sp>
      <p:sp>
        <p:nvSpPr>
          <p:cNvPr id="7" name="Text 5"/>
          <p:cNvSpPr txBox="1"/>
          <p:nvPr/>
        </p:nvSpPr>
        <p:spPr>
          <a:xfrm>
            <a:off x="868680" y="2788920"/>
            <a:ext cx="4206240" cy="13716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MERCATO</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DELL'ELETTRICITÀ</a:t>
            </a:r>
            <a:endParaRPr lang="en-US" sz="1700" dirty="0"/>
          </a:p>
          <a:p>
            <a:pPr marL="0" indent="0" algn="ctr">
              <a:buNone/>
            </a:pP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89 paesi</a:t>
            </a:r>
            <a:endParaRPr lang="en-US" sz="1700" dirty="0"/>
          </a:p>
        </p:txBody>
      </p:sp>
      <p:sp>
        <p:nvSpPr>
          <p:cNvPr id="8" name="Shape 6"/>
          <p:cNvSpPr/>
          <p:nvPr/>
        </p:nvSpPr>
        <p:spPr>
          <a:xfrm>
            <a:off x="7114032" y="2788920"/>
            <a:ext cx="4206240" cy="1371600"/>
          </a:xfrm>
          <a:prstGeom prst="roundRect">
            <a:avLst>
              <a:gd name="adj" fmla="val 6667"/>
            </a:avLst>
          </a:prstGeom>
          <a:solidFill>
            <a:srgbClr val="FF6B4A"/>
          </a:solidFill>
          <a:ln/>
        </p:spPr>
        <p:txBody>
          <a:bodyPr/>
          <a:lstStyle/>
          <a:p>
            <a:endParaRPr lang="it-IT"/>
          </a:p>
        </p:txBody>
      </p:sp>
      <p:sp>
        <p:nvSpPr>
          <p:cNvPr id="9" name="Text 7"/>
          <p:cNvSpPr txBox="1"/>
          <p:nvPr/>
        </p:nvSpPr>
        <p:spPr>
          <a:xfrm>
            <a:off x="7114032" y="2788920"/>
            <a:ext cx="4206240" cy="13716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MERCATO</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DELLE CRIPTOVALUTE</a:t>
            </a:r>
            <a:endParaRPr lang="en-US" sz="1700" dirty="0"/>
          </a:p>
          <a:p>
            <a:pPr marL="0" indent="0" algn="ctr">
              <a:buNone/>
            </a:pP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Bitcoin &amp; Ethereum</a:t>
            </a:r>
            <a:endParaRPr lang="en-US" sz="1700" dirty="0"/>
          </a:p>
        </p:txBody>
      </p:sp>
      <p:sp>
        <p:nvSpPr>
          <p:cNvPr id="10" name="Shape 8"/>
          <p:cNvSpPr/>
          <p:nvPr/>
        </p:nvSpPr>
        <p:spPr>
          <a:xfrm>
            <a:off x="5120640" y="3310128"/>
            <a:ext cx="1947672" cy="9144"/>
          </a:xfrm>
          <a:prstGeom prst="line">
            <a:avLst/>
          </a:prstGeom>
          <a:noFill/>
          <a:ln w="38100">
            <a:solidFill>
              <a:srgbClr val="26293A"/>
            </a:solidFill>
            <a:prstDash val="solid"/>
            <a:headEnd type="none"/>
            <a:tailEnd type="triangle"/>
          </a:ln>
        </p:spPr>
        <p:txBody>
          <a:bodyPr/>
          <a:lstStyle/>
          <a:p>
            <a:endParaRPr lang="it-IT"/>
          </a:p>
        </p:txBody>
      </p:sp>
      <p:sp>
        <p:nvSpPr>
          <p:cNvPr id="11" name="Shape 9"/>
          <p:cNvSpPr/>
          <p:nvPr/>
        </p:nvSpPr>
        <p:spPr>
          <a:xfrm flipH="1">
            <a:off x="5120640" y="3639312"/>
            <a:ext cx="1947672" cy="9144"/>
          </a:xfrm>
          <a:prstGeom prst="line">
            <a:avLst/>
          </a:prstGeom>
          <a:noFill/>
          <a:ln w="38100">
            <a:solidFill>
              <a:srgbClr val="26293A"/>
            </a:solidFill>
            <a:prstDash val="solid"/>
            <a:headEnd type="none"/>
            <a:tailEnd type="triangle"/>
          </a:ln>
        </p:spPr>
        <p:txBody>
          <a:bodyPr/>
          <a:lstStyle/>
          <a:p>
            <a:endParaRPr lang="it-IT"/>
          </a:p>
        </p:txBody>
      </p:sp>
      <p:sp>
        <p:nvSpPr>
          <p:cNvPr id="12" name="Text 10"/>
          <p:cNvSpPr txBox="1"/>
          <p:nvPr/>
        </p:nvSpPr>
        <p:spPr>
          <a:xfrm>
            <a:off x="5166360" y="2331720"/>
            <a:ext cx="1856232" cy="365760"/>
          </a:xfrm>
          <a:prstGeom prst="rect">
            <a:avLst/>
          </a:prstGeom>
          <a:noFill/>
          <a:ln/>
        </p:spPr>
        <p:txBody>
          <a:bodyPr wrap="square" lIns="0" tIns="0" rIns="0" bIns="0" rtlCol="0" anchor="ctr"/>
          <a:lstStyle/>
          <a:p>
            <a:pPr marL="0" indent="0" algn="ctr">
              <a:buNone/>
            </a:pPr>
            <a:r>
              <a:rPr lang="en-US" sz="1250" b="1" dirty="0">
                <a:solidFill>
                  <a:srgbClr val="2E4374"/>
                </a:solidFill>
                <a:latin typeface="Calibri" pitchFamily="34" charset="0"/>
                <a:ea typeface="Calibri" pitchFamily="34" charset="-122"/>
                <a:cs typeface="Calibri" pitchFamily="34" charset="-120"/>
              </a:rPr>
              <a:t>chi guida chi nel tempo?  (lead-lag)</a:t>
            </a:r>
            <a:endParaRPr lang="en-US" sz="1250" dirty="0"/>
          </a:p>
        </p:txBody>
      </p:sp>
      <p:sp>
        <p:nvSpPr>
          <p:cNvPr id="13" name="Text 11"/>
          <p:cNvSpPr txBox="1"/>
          <p:nvPr/>
        </p:nvSpPr>
        <p:spPr>
          <a:xfrm>
            <a:off x="5166360" y="4270248"/>
            <a:ext cx="1856232" cy="365760"/>
          </a:xfrm>
          <a:prstGeom prst="rect">
            <a:avLst/>
          </a:prstGeom>
          <a:noFill/>
          <a:ln/>
        </p:spPr>
        <p:txBody>
          <a:bodyPr wrap="square" lIns="0" tIns="0" rIns="0" bIns="0" rtlCol="0" anchor="ctr"/>
          <a:lstStyle/>
          <a:p>
            <a:pPr marL="0" indent="0" algn="ctr">
              <a:buNone/>
            </a:pPr>
            <a:r>
              <a:rPr lang="en-US" sz="1250" b="1" dirty="0">
                <a:solidFill>
                  <a:srgbClr val="2E4374"/>
                </a:solidFill>
                <a:latin typeface="Calibri" pitchFamily="34" charset="0"/>
                <a:ea typeface="Calibri" pitchFamily="34" charset="-122"/>
                <a:cs typeface="Calibri" pitchFamily="34" charset="-120"/>
              </a:rPr>
              <a:t>le turbolenze si trasmettono?  (spillover)</a:t>
            </a:r>
            <a:endParaRPr lang="en-US" sz="1250" dirty="0"/>
          </a:p>
        </p:txBody>
      </p:sp>
      <p:sp>
        <p:nvSpPr>
          <p:cNvPr id="14" name="Text 12"/>
          <p:cNvSpPr txBox="1"/>
          <p:nvPr/>
        </p:nvSpPr>
        <p:spPr>
          <a:xfrm>
            <a:off x="1371600" y="4892040"/>
            <a:ext cx="9445752" cy="914400"/>
          </a:xfrm>
          <a:prstGeom prst="rect">
            <a:avLst/>
          </a:prstGeom>
          <a:noFill/>
          <a:ln/>
        </p:spPr>
        <p:txBody>
          <a:bodyPr wrap="square" lIns="0" tIns="0" rIns="0" bIns="0" rtlCol="0" anchor="ctr"/>
          <a:lstStyle/>
          <a:p>
            <a:pPr marL="0" indent="0" algn="ctr">
              <a:lnSpc>
                <a:spcPts val="1900"/>
              </a:lnSpc>
              <a:buNone/>
            </a:pPr>
            <a:r>
              <a:rPr lang="en-US" sz="1450" i="1" dirty="0">
                <a:solidFill>
                  <a:srgbClr val="6B7280"/>
                </a:solidFill>
                <a:latin typeface="Calibri" pitchFamily="34" charset="0"/>
                <a:ea typeface="Calibri" pitchFamily="34" charset="-122"/>
                <a:cs typeface="Calibri" pitchFamily="34" charset="-120"/>
              </a:rPr>
              <a:t>Lo studio confronta il mercato mondiale dell'elettricità (89 paesi) con Bitcoin ed Ethereum, dal 2013 al 2019, cercando due tipi di legame: uno predittivo e uno legato alle oscillazioni di mercato.</a:t>
            </a:r>
            <a:endParaRPr lang="en-US" sz="1450" dirty="0"/>
          </a:p>
        </p:txBody>
      </p:sp>
      <p:sp>
        <p:nvSpPr>
          <p:cNvPr id="15" name="Text 1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I DATI</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I dati alla base dello studio</a:t>
            </a:r>
            <a:endParaRPr lang="en-US" sz="2700" dirty="0"/>
          </a:p>
        </p:txBody>
      </p:sp>
      <p:sp>
        <p:nvSpPr>
          <p:cNvPr id="6" name="Shape 4"/>
          <p:cNvSpPr/>
          <p:nvPr/>
        </p:nvSpPr>
        <p:spPr>
          <a:xfrm>
            <a:off x="1234440" y="2331720"/>
            <a:ext cx="9692640" cy="0"/>
          </a:xfrm>
          <a:prstGeom prst="line">
            <a:avLst/>
          </a:prstGeom>
          <a:noFill/>
          <a:ln w="19050">
            <a:solidFill>
              <a:srgbClr val="E8DECE"/>
            </a:solidFill>
            <a:prstDash val="solid"/>
          </a:ln>
        </p:spPr>
        <p:txBody>
          <a:bodyPr/>
          <a:lstStyle/>
          <a:p>
            <a:endParaRPr lang="it-IT"/>
          </a:p>
        </p:txBody>
      </p:sp>
      <p:sp>
        <p:nvSpPr>
          <p:cNvPr id="7" name="Shape 5"/>
          <p:cNvSpPr/>
          <p:nvPr/>
        </p:nvSpPr>
        <p:spPr>
          <a:xfrm>
            <a:off x="1737360" y="2240280"/>
            <a:ext cx="182880" cy="182880"/>
          </a:xfrm>
          <a:prstGeom prst="ellipse">
            <a:avLst/>
          </a:prstGeom>
          <a:solidFill>
            <a:srgbClr val="FF6B4A"/>
          </a:solidFill>
          <a:ln w="19050">
            <a:solidFill>
              <a:srgbClr val="FBF7F1"/>
            </a:solidFill>
            <a:prstDash val="solid"/>
          </a:ln>
        </p:spPr>
        <p:txBody>
          <a:bodyPr/>
          <a:lstStyle/>
          <a:p>
            <a:endParaRPr lang="it-IT"/>
          </a:p>
        </p:txBody>
      </p:sp>
      <p:sp>
        <p:nvSpPr>
          <p:cNvPr id="8" name="Text 6"/>
          <p:cNvSpPr txBox="1"/>
          <p:nvPr/>
        </p:nvSpPr>
        <p:spPr>
          <a:xfrm>
            <a:off x="640080" y="1764792"/>
            <a:ext cx="2377440" cy="320040"/>
          </a:xfrm>
          <a:prstGeom prst="rect">
            <a:avLst/>
          </a:prstGeom>
          <a:noFill/>
          <a:ln/>
        </p:spPr>
        <p:txBody>
          <a:bodyPr wrap="square" lIns="0" tIns="0" rIns="0" bIns="0" rtlCol="0" anchor="ctr"/>
          <a:lstStyle/>
          <a:p>
            <a:pPr marL="0" indent="0" algn="ctr">
              <a:buNone/>
            </a:pPr>
            <a:r>
              <a:rPr lang="en-US" sz="1300" b="1" dirty="0">
                <a:solidFill>
                  <a:srgbClr val="2E4374"/>
                </a:solidFill>
                <a:latin typeface="Calibri" pitchFamily="34" charset="0"/>
                <a:ea typeface="Calibri" pitchFamily="34" charset="-122"/>
                <a:cs typeface="Calibri" pitchFamily="34" charset="-120"/>
              </a:rPr>
              <a:t>28 aprile 2013</a:t>
            </a:r>
            <a:endParaRPr lang="en-US" sz="1300" dirty="0"/>
          </a:p>
        </p:txBody>
      </p:sp>
      <p:sp>
        <p:nvSpPr>
          <p:cNvPr id="9" name="Text 7"/>
          <p:cNvSpPr txBox="1"/>
          <p:nvPr/>
        </p:nvSpPr>
        <p:spPr>
          <a:xfrm>
            <a:off x="640080" y="2514600"/>
            <a:ext cx="2377440" cy="320040"/>
          </a:xfrm>
          <a:prstGeom prst="rect">
            <a:avLst/>
          </a:prstGeom>
          <a:noFill/>
          <a:ln/>
        </p:spPr>
        <p:txBody>
          <a:bodyPr wrap="square" lIns="0" tIns="0" rIns="0" bIns="0"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Inizio serie Bitcoin</a:t>
            </a:r>
            <a:endParaRPr lang="en-US" sz="1150" dirty="0"/>
          </a:p>
        </p:txBody>
      </p:sp>
      <p:sp>
        <p:nvSpPr>
          <p:cNvPr id="10" name="Shape 8"/>
          <p:cNvSpPr/>
          <p:nvPr/>
        </p:nvSpPr>
        <p:spPr>
          <a:xfrm>
            <a:off x="5989320" y="2240280"/>
            <a:ext cx="182880" cy="182880"/>
          </a:xfrm>
          <a:prstGeom prst="ellipse">
            <a:avLst/>
          </a:prstGeom>
          <a:solidFill>
            <a:srgbClr val="FF6B4A"/>
          </a:solidFill>
          <a:ln w="19050">
            <a:solidFill>
              <a:srgbClr val="FBF7F1"/>
            </a:solidFill>
            <a:prstDash val="solid"/>
          </a:ln>
        </p:spPr>
        <p:txBody>
          <a:bodyPr/>
          <a:lstStyle/>
          <a:p>
            <a:endParaRPr lang="it-IT"/>
          </a:p>
        </p:txBody>
      </p:sp>
      <p:sp>
        <p:nvSpPr>
          <p:cNvPr id="11" name="Text 9"/>
          <p:cNvSpPr txBox="1"/>
          <p:nvPr/>
        </p:nvSpPr>
        <p:spPr>
          <a:xfrm>
            <a:off x="4892040" y="1764792"/>
            <a:ext cx="2377440" cy="320040"/>
          </a:xfrm>
          <a:prstGeom prst="rect">
            <a:avLst/>
          </a:prstGeom>
          <a:noFill/>
          <a:ln/>
        </p:spPr>
        <p:txBody>
          <a:bodyPr wrap="square" lIns="0" tIns="0" rIns="0" bIns="0" rtlCol="0" anchor="ctr"/>
          <a:lstStyle/>
          <a:p>
            <a:pPr marL="0" indent="0" algn="ctr">
              <a:buNone/>
            </a:pPr>
            <a:r>
              <a:rPr lang="en-US" sz="1300" b="1" dirty="0">
                <a:solidFill>
                  <a:srgbClr val="2E4374"/>
                </a:solidFill>
                <a:latin typeface="Calibri" pitchFamily="34" charset="0"/>
                <a:ea typeface="Calibri" pitchFamily="34" charset="-122"/>
                <a:cs typeface="Calibri" pitchFamily="34" charset="-120"/>
              </a:rPr>
              <a:t>7 agosto 2015</a:t>
            </a:r>
            <a:endParaRPr lang="en-US" sz="1300" dirty="0"/>
          </a:p>
        </p:txBody>
      </p:sp>
      <p:sp>
        <p:nvSpPr>
          <p:cNvPr id="12" name="Text 10"/>
          <p:cNvSpPr txBox="1"/>
          <p:nvPr/>
        </p:nvSpPr>
        <p:spPr>
          <a:xfrm>
            <a:off x="4892040" y="2514600"/>
            <a:ext cx="2377440" cy="320040"/>
          </a:xfrm>
          <a:prstGeom prst="rect">
            <a:avLst/>
          </a:prstGeom>
          <a:noFill/>
          <a:ln/>
        </p:spPr>
        <p:txBody>
          <a:bodyPr wrap="square" lIns="0" tIns="0" rIns="0" bIns="0"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Inizio serie Ethereum</a:t>
            </a:r>
            <a:endParaRPr lang="en-US" sz="1150" dirty="0"/>
          </a:p>
        </p:txBody>
      </p:sp>
      <p:sp>
        <p:nvSpPr>
          <p:cNvPr id="13" name="Shape 11"/>
          <p:cNvSpPr/>
          <p:nvPr/>
        </p:nvSpPr>
        <p:spPr>
          <a:xfrm>
            <a:off x="10241280" y="2240280"/>
            <a:ext cx="182880" cy="182880"/>
          </a:xfrm>
          <a:prstGeom prst="ellipse">
            <a:avLst/>
          </a:prstGeom>
          <a:solidFill>
            <a:srgbClr val="FF6B4A"/>
          </a:solidFill>
          <a:ln w="19050">
            <a:solidFill>
              <a:srgbClr val="FBF7F1"/>
            </a:solidFill>
            <a:prstDash val="solid"/>
          </a:ln>
        </p:spPr>
        <p:txBody>
          <a:bodyPr/>
          <a:lstStyle/>
          <a:p>
            <a:endParaRPr lang="it-IT"/>
          </a:p>
        </p:txBody>
      </p:sp>
      <p:sp>
        <p:nvSpPr>
          <p:cNvPr id="14" name="Text 12"/>
          <p:cNvSpPr txBox="1"/>
          <p:nvPr/>
        </p:nvSpPr>
        <p:spPr>
          <a:xfrm>
            <a:off x="9144000" y="1764792"/>
            <a:ext cx="2377440" cy="320040"/>
          </a:xfrm>
          <a:prstGeom prst="rect">
            <a:avLst/>
          </a:prstGeom>
          <a:noFill/>
          <a:ln/>
        </p:spPr>
        <p:txBody>
          <a:bodyPr wrap="square" lIns="0" tIns="0" rIns="0" bIns="0" rtlCol="0" anchor="ctr"/>
          <a:lstStyle/>
          <a:p>
            <a:pPr marL="0" indent="0" algn="ctr">
              <a:buNone/>
            </a:pPr>
            <a:r>
              <a:rPr lang="en-US" sz="1300" b="1" dirty="0">
                <a:solidFill>
                  <a:srgbClr val="2E4374"/>
                </a:solidFill>
                <a:latin typeface="Calibri" pitchFamily="34" charset="0"/>
                <a:ea typeface="Calibri" pitchFamily="34" charset="-122"/>
                <a:cs typeface="Calibri" pitchFamily="34" charset="-120"/>
              </a:rPr>
              <a:t>26 novembre 2019</a:t>
            </a:r>
            <a:endParaRPr lang="en-US" sz="1300" dirty="0"/>
          </a:p>
        </p:txBody>
      </p:sp>
      <p:sp>
        <p:nvSpPr>
          <p:cNvPr id="15" name="Text 13"/>
          <p:cNvSpPr txBox="1"/>
          <p:nvPr/>
        </p:nvSpPr>
        <p:spPr>
          <a:xfrm>
            <a:off x="9144000" y="2514600"/>
            <a:ext cx="2377440" cy="320040"/>
          </a:xfrm>
          <a:prstGeom prst="rect">
            <a:avLst/>
          </a:prstGeom>
          <a:noFill/>
          <a:ln/>
        </p:spPr>
        <p:txBody>
          <a:bodyPr wrap="square" lIns="0" tIns="0" rIns="0" bIns="0"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Fine del campione</a:t>
            </a:r>
            <a:endParaRPr lang="en-US" sz="1150" dirty="0"/>
          </a:p>
        </p:txBody>
      </p:sp>
      <p:sp>
        <p:nvSpPr>
          <p:cNvPr id="16" name="Shape 14"/>
          <p:cNvSpPr/>
          <p:nvPr/>
        </p:nvSpPr>
        <p:spPr>
          <a:xfrm>
            <a:off x="868680" y="3520440"/>
            <a:ext cx="5074920" cy="2148840"/>
          </a:xfrm>
          <a:prstGeom prst="roundRect">
            <a:avLst>
              <a:gd name="adj" fmla="val 5106"/>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17" name="Shape 15"/>
          <p:cNvSpPr/>
          <p:nvPr/>
        </p:nvSpPr>
        <p:spPr>
          <a:xfrm>
            <a:off x="1143000" y="3794760"/>
            <a:ext cx="548640" cy="548640"/>
          </a:xfrm>
          <a:prstGeom prst="ellipse">
            <a:avLst/>
          </a:prstGeom>
          <a:solidFill>
            <a:srgbClr val="2E4374"/>
          </a:solidFill>
          <a:ln/>
        </p:spPr>
        <p:txBody>
          <a:bodyPr/>
          <a:lstStyle/>
          <a:p>
            <a:endParaRPr lang="it-IT"/>
          </a:p>
        </p:txBody>
      </p:sp>
      <p:pic>
        <p:nvPicPr>
          <p:cNvPr id="18" name="Image 0" descr="icons/chart_white.png"/>
          <p:cNvPicPr>
            <a:picLocks noChangeAspect="1"/>
          </p:cNvPicPr>
          <p:nvPr/>
        </p:nvPicPr>
        <p:blipFill>
          <a:blip r:embed="rId3"/>
          <a:stretch>
            <a:fillRect/>
          </a:stretch>
        </p:blipFill>
        <p:spPr>
          <a:xfrm>
            <a:off x="1214323" y="3866083"/>
            <a:ext cx="405994" cy="405994"/>
          </a:xfrm>
          <a:prstGeom prst="rect">
            <a:avLst/>
          </a:prstGeom>
        </p:spPr>
      </p:pic>
      <p:sp>
        <p:nvSpPr>
          <p:cNvPr id="19" name="Text 16"/>
          <p:cNvSpPr txBox="1"/>
          <p:nvPr/>
        </p:nvSpPr>
        <p:spPr>
          <a:xfrm>
            <a:off x="1874520" y="3813048"/>
            <a:ext cx="3886200" cy="365760"/>
          </a:xfrm>
          <a:prstGeom prst="rect">
            <a:avLst/>
          </a:prstGeom>
          <a:noFill/>
          <a:ln/>
        </p:spPr>
        <p:txBody>
          <a:bodyPr wrap="square" lIns="0" tIns="0" rIns="0" bIns="0" rtlCol="0" anchor="ctr"/>
          <a:lstStyle/>
          <a:p>
            <a:pPr marL="0" indent="0">
              <a:buNone/>
            </a:pPr>
            <a:r>
              <a:rPr lang="en-US" sz="1500" b="1" dirty="0">
                <a:solidFill>
                  <a:srgbClr val="2E4374"/>
                </a:solidFill>
                <a:latin typeface="Calibri" pitchFamily="34" charset="0"/>
                <a:ea typeface="Calibri" pitchFamily="34" charset="-122"/>
                <a:cs typeface="Calibri" pitchFamily="34" charset="-120"/>
              </a:rPr>
              <a:t>Prezzi &amp; hash rate (giornalieri)</a:t>
            </a:r>
            <a:endParaRPr lang="en-US" sz="1500" dirty="0"/>
          </a:p>
        </p:txBody>
      </p:sp>
      <p:sp>
        <p:nvSpPr>
          <p:cNvPr id="20" name="Text 17"/>
          <p:cNvSpPr txBox="1"/>
          <p:nvPr/>
        </p:nvSpPr>
        <p:spPr>
          <a:xfrm>
            <a:off x="1143000" y="4480560"/>
            <a:ext cx="4526280" cy="100584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Bitcoin ed Ethereum. Fonti: Coin Market Capitalization (prezzi), Quandl (hash rate BTC), Etherscan (hash rate ETH).</a:t>
            </a:r>
            <a:endParaRPr lang="en-US" sz="1250" dirty="0"/>
          </a:p>
        </p:txBody>
      </p:sp>
      <p:sp>
        <p:nvSpPr>
          <p:cNvPr id="21" name="Shape 18"/>
          <p:cNvSpPr/>
          <p:nvPr/>
        </p:nvSpPr>
        <p:spPr>
          <a:xfrm>
            <a:off x="6309360" y="3520440"/>
            <a:ext cx="5074920" cy="2148840"/>
          </a:xfrm>
          <a:prstGeom prst="roundRect">
            <a:avLst>
              <a:gd name="adj" fmla="val 5106"/>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22" name="Shape 19"/>
          <p:cNvSpPr/>
          <p:nvPr/>
        </p:nvSpPr>
        <p:spPr>
          <a:xfrm>
            <a:off x="6583680" y="3794760"/>
            <a:ext cx="548640" cy="548640"/>
          </a:xfrm>
          <a:prstGeom prst="ellipse">
            <a:avLst/>
          </a:prstGeom>
          <a:solidFill>
            <a:srgbClr val="FF6B4A"/>
          </a:solidFill>
          <a:ln/>
        </p:spPr>
        <p:txBody>
          <a:bodyPr/>
          <a:lstStyle/>
          <a:p>
            <a:endParaRPr lang="it-IT"/>
          </a:p>
        </p:txBody>
      </p:sp>
      <p:pic>
        <p:nvPicPr>
          <p:cNvPr id="23" name="Image 1" descr="icons/database_white.png"/>
          <p:cNvPicPr>
            <a:picLocks noChangeAspect="1"/>
          </p:cNvPicPr>
          <p:nvPr/>
        </p:nvPicPr>
        <p:blipFill>
          <a:blip r:embed="rId4"/>
          <a:stretch>
            <a:fillRect/>
          </a:stretch>
        </p:blipFill>
        <p:spPr>
          <a:xfrm>
            <a:off x="6655003" y="3866083"/>
            <a:ext cx="405994" cy="405994"/>
          </a:xfrm>
          <a:prstGeom prst="rect">
            <a:avLst/>
          </a:prstGeom>
        </p:spPr>
      </p:pic>
      <p:sp>
        <p:nvSpPr>
          <p:cNvPr id="24" name="Text 20"/>
          <p:cNvSpPr txBox="1"/>
          <p:nvPr/>
        </p:nvSpPr>
        <p:spPr>
          <a:xfrm>
            <a:off x="7315200" y="3813048"/>
            <a:ext cx="3886200" cy="365760"/>
          </a:xfrm>
          <a:prstGeom prst="rect">
            <a:avLst/>
          </a:prstGeom>
          <a:noFill/>
          <a:ln/>
        </p:spPr>
        <p:txBody>
          <a:bodyPr wrap="square" lIns="0" tIns="0" rIns="0" bIns="0" rtlCol="0" anchor="ctr"/>
          <a:lstStyle/>
          <a:p>
            <a:pPr marL="0" indent="0">
              <a:buNone/>
            </a:pPr>
            <a:r>
              <a:rPr lang="en-US" sz="1500" b="1" dirty="0">
                <a:solidFill>
                  <a:srgbClr val="2E4374"/>
                </a:solidFill>
                <a:latin typeface="Calibri" pitchFamily="34" charset="0"/>
                <a:ea typeface="Calibri" pitchFamily="34" charset="-122"/>
                <a:cs typeface="Calibri" pitchFamily="34" charset="-120"/>
              </a:rPr>
              <a:t>Domanda di elettricità (89 paesi)</a:t>
            </a:r>
            <a:endParaRPr lang="en-US" sz="1500" dirty="0"/>
          </a:p>
        </p:txBody>
      </p:sp>
      <p:sp>
        <p:nvSpPr>
          <p:cNvPr id="25" name="Text 21"/>
          <p:cNvSpPr txBox="1"/>
          <p:nvPr/>
        </p:nvSpPr>
        <p:spPr>
          <a:xfrm>
            <a:off x="6583680" y="4480560"/>
            <a:ext cx="4526280" cy="100584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Dati annuali World Bank 2013–2019, trasformati in serie giornaliere con il metodo di disaggregazione temporale Denton-Cholette.</a:t>
            </a:r>
            <a:endParaRPr lang="en-US" sz="1250" dirty="0"/>
          </a:p>
        </p:txBody>
      </p:sp>
      <p:sp>
        <p:nvSpPr>
          <p:cNvPr id="26" name="Text 2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LA CLASSIFICAZIONE DEI PAESI</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89 paesi raggruppati in 4 fasce di costo</a:t>
            </a:r>
            <a:endParaRPr lang="en-US" sz="2700" dirty="0"/>
          </a:p>
        </p:txBody>
      </p:sp>
      <p:sp>
        <p:nvSpPr>
          <p:cNvPr id="6" name="Shape 4"/>
          <p:cNvSpPr/>
          <p:nvPr/>
        </p:nvSpPr>
        <p:spPr>
          <a:xfrm>
            <a:off x="594360" y="1783080"/>
            <a:ext cx="6675120" cy="4160520"/>
          </a:xfrm>
          <a:prstGeom prst="roundRect">
            <a:avLst>
              <a:gd name="adj" fmla="val 2637"/>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graphicFrame>
        <p:nvGraphicFramePr>
          <p:cNvPr id="7" name="Chart 0"/>
          <p:cNvGraphicFramePr/>
          <p:nvPr/>
        </p:nvGraphicFramePr>
        <p:xfrm>
          <a:off x="868680" y="1965960"/>
          <a:ext cx="61264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94360" y="5715000"/>
            <a:ext cx="6675120" cy="320040"/>
          </a:xfrm>
          <a:prstGeom prst="rect">
            <a:avLst/>
          </a:prstGeom>
          <a:noFill/>
          <a:ln/>
        </p:spPr>
        <p:txBody>
          <a:bodyPr wrap="square" lIns="0" tIns="0" rIns="0" bIns="0" rtlCol="0" anchor="ctr"/>
          <a:lstStyle/>
          <a:p>
            <a:pPr marL="0" indent="0" algn="ctr">
              <a:buNone/>
            </a:pPr>
            <a:r>
              <a:rPr lang="en-US" sz="1150" i="1" dirty="0">
                <a:solidFill>
                  <a:srgbClr val="6B7280"/>
                </a:solidFill>
                <a:latin typeface="Calibri" pitchFamily="34" charset="0"/>
                <a:ea typeface="Calibri" pitchFamily="34" charset="-122"/>
                <a:cs typeface="Calibri" pitchFamily="34" charset="-120"/>
              </a:rPr>
              <a:t>Costo stimato (USD) per estrarre 1 Bitcoin, per fascia di paesi</a:t>
            </a:r>
            <a:endParaRPr lang="en-US" sz="1150" dirty="0"/>
          </a:p>
        </p:txBody>
      </p:sp>
      <p:sp>
        <p:nvSpPr>
          <p:cNvPr id="9" name="Text 6"/>
          <p:cNvSpPr txBox="1"/>
          <p:nvPr/>
        </p:nvSpPr>
        <p:spPr>
          <a:xfrm>
            <a:off x="7772400" y="1965960"/>
            <a:ext cx="3840480" cy="685800"/>
          </a:xfrm>
          <a:prstGeom prst="rect">
            <a:avLst/>
          </a:prstGeom>
          <a:noFill/>
          <a:ln/>
        </p:spPr>
        <p:txBody>
          <a:bodyPr wrap="square" lIns="0" tIns="0" rIns="0" bIns="0" rtlCol="0" anchor="ctr"/>
          <a:lstStyle/>
          <a:p>
            <a:pPr marL="0" indent="0" algn="l">
              <a:buNone/>
            </a:pPr>
            <a:r>
              <a:rPr lang="en-US" sz="2600" b="1" dirty="0">
                <a:solidFill>
                  <a:srgbClr val="2E4374"/>
                </a:solidFill>
                <a:latin typeface="Verdana" pitchFamily="34" charset="0"/>
                <a:ea typeface="Verdana" pitchFamily="34" charset="-122"/>
                <a:cs typeface="Verdana" pitchFamily="34" charset="-120"/>
              </a:rPr>
              <a:t>Q25</a:t>
            </a:r>
            <a:endParaRPr lang="en-US" sz="2600" dirty="0"/>
          </a:p>
        </p:txBody>
      </p:sp>
      <p:sp>
        <p:nvSpPr>
          <p:cNvPr id="10" name="Text 7"/>
          <p:cNvSpPr txBox="1"/>
          <p:nvPr/>
        </p:nvSpPr>
        <p:spPr>
          <a:xfrm>
            <a:off x="7772400" y="2532888"/>
            <a:ext cx="3840480" cy="640080"/>
          </a:xfrm>
          <a:prstGeom prst="rect">
            <a:avLst/>
          </a:prstGeom>
          <a:noFill/>
          <a:ln/>
        </p:spPr>
        <p:txBody>
          <a:bodyPr wrap="square" lIns="0" tIns="0" rIns="0" bIns="0" rtlCol="0" anchor="ctr"/>
          <a:lstStyle/>
          <a:p>
            <a:pPr marL="0" indent="0" algn="l">
              <a:lnSpc>
                <a:spcPts val="1400"/>
              </a:lnSpc>
              <a:buNone/>
            </a:pPr>
            <a:r>
              <a:rPr lang="en-US" sz="1200" dirty="0">
                <a:solidFill>
                  <a:srgbClr val="6B7280"/>
                </a:solidFill>
                <a:latin typeface="Calibri" pitchFamily="34" charset="0"/>
                <a:ea typeface="Calibri" pitchFamily="34" charset="-122"/>
                <a:cs typeface="Calibri" pitchFamily="34" charset="-120"/>
              </a:rPr>
              <a:t>più economico — es. Trinidad e Tobago: $1.190</a:t>
            </a:r>
            <a:endParaRPr lang="en-US" sz="1200" dirty="0"/>
          </a:p>
        </p:txBody>
      </p:sp>
      <p:sp>
        <p:nvSpPr>
          <p:cNvPr id="11" name="Text 8"/>
          <p:cNvSpPr txBox="1"/>
          <p:nvPr/>
        </p:nvSpPr>
        <p:spPr>
          <a:xfrm>
            <a:off x="7772400" y="3108960"/>
            <a:ext cx="3840480" cy="685800"/>
          </a:xfrm>
          <a:prstGeom prst="rect">
            <a:avLst/>
          </a:prstGeom>
          <a:noFill/>
          <a:ln/>
        </p:spPr>
        <p:txBody>
          <a:bodyPr wrap="square" lIns="0" tIns="0" rIns="0" bIns="0" rtlCol="0" anchor="ctr"/>
          <a:lstStyle/>
          <a:p>
            <a:pPr marL="0" indent="0" algn="l">
              <a:buNone/>
            </a:pPr>
            <a:r>
              <a:rPr lang="en-US" sz="2600" b="1" dirty="0">
                <a:solidFill>
                  <a:srgbClr val="FF6B4A"/>
                </a:solidFill>
                <a:latin typeface="Verdana" pitchFamily="34" charset="0"/>
                <a:ea typeface="Verdana" pitchFamily="34" charset="-122"/>
                <a:cs typeface="Verdana" pitchFamily="34" charset="-120"/>
              </a:rPr>
              <a:t>Q100</a:t>
            </a:r>
            <a:endParaRPr lang="en-US" sz="2600" dirty="0"/>
          </a:p>
        </p:txBody>
      </p:sp>
      <p:sp>
        <p:nvSpPr>
          <p:cNvPr id="12" name="Text 9"/>
          <p:cNvSpPr txBox="1"/>
          <p:nvPr/>
        </p:nvSpPr>
        <p:spPr>
          <a:xfrm>
            <a:off x="7772400" y="3675888"/>
            <a:ext cx="3840480" cy="640080"/>
          </a:xfrm>
          <a:prstGeom prst="rect">
            <a:avLst/>
          </a:prstGeom>
          <a:noFill/>
          <a:ln/>
        </p:spPr>
        <p:txBody>
          <a:bodyPr wrap="square" lIns="0" tIns="0" rIns="0" bIns="0" rtlCol="0" anchor="ctr"/>
          <a:lstStyle/>
          <a:p>
            <a:pPr marL="0" indent="0" algn="l">
              <a:lnSpc>
                <a:spcPts val="1400"/>
              </a:lnSpc>
              <a:buNone/>
            </a:pPr>
            <a:r>
              <a:rPr lang="en-US" sz="1200" dirty="0">
                <a:solidFill>
                  <a:srgbClr val="6B7280"/>
                </a:solidFill>
                <a:latin typeface="Calibri" pitchFamily="34" charset="0"/>
                <a:ea typeface="Calibri" pitchFamily="34" charset="-122"/>
                <a:cs typeface="Calibri" pitchFamily="34" charset="-120"/>
              </a:rPr>
              <a:t>più costoso — es. Corea del Sud: $26.170</a:t>
            </a:r>
            <a:endParaRPr lang="en-US" sz="1200" dirty="0"/>
          </a:p>
        </p:txBody>
      </p:sp>
      <p:sp>
        <p:nvSpPr>
          <p:cNvPr id="13" name="Shape 10"/>
          <p:cNvSpPr/>
          <p:nvPr/>
        </p:nvSpPr>
        <p:spPr>
          <a:xfrm>
            <a:off x="7772400" y="4251960"/>
            <a:ext cx="3840480" cy="0"/>
          </a:xfrm>
          <a:prstGeom prst="line">
            <a:avLst/>
          </a:prstGeom>
          <a:noFill/>
          <a:ln w="19050">
            <a:solidFill>
              <a:srgbClr val="E8DECE"/>
            </a:solidFill>
            <a:prstDash val="solid"/>
          </a:ln>
        </p:spPr>
        <p:txBody>
          <a:bodyPr/>
          <a:lstStyle/>
          <a:p>
            <a:endParaRPr lang="it-IT"/>
          </a:p>
        </p:txBody>
      </p:sp>
      <p:sp>
        <p:nvSpPr>
          <p:cNvPr id="14" name="Text 11"/>
          <p:cNvSpPr txBox="1"/>
          <p:nvPr/>
        </p:nvSpPr>
        <p:spPr>
          <a:xfrm>
            <a:off x="7772400" y="4389120"/>
            <a:ext cx="3840480" cy="640080"/>
          </a:xfrm>
          <a:prstGeom prst="rect">
            <a:avLst/>
          </a:prstGeom>
          <a:noFill/>
          <a:ln/>
        </p:spPr>
        <p:txBody>
          <a:bodyPr wrap="square" lIns="0" tIns="0" rIns="0" bIns="0" rtlCol="0" anchor="ctr"/>
          <a:lstStyle/>
          <a:p>
            <a:pPr marL="0" indent="0">
              <a:lnSpc>
                <a:spcPts val="1600"/>
              </a:lnSpc>
              <a:buNone/>
            </a:pPr>
            <a:r>
              <a:rPr lang="en-US" sz="1300" i="1" dirty="0">
                <a:solidFill>
                  <a:srgbClr val="26293A"/>
                </a:solidFill>
                <a:latin typeface="Calibri" pitchFamily="34" charset="0"/>
                <a:ea typeface="Calibri" pitchFamily="34" charset="-122"/>
                <a:cs typeface="Calibri" pitchFamily="34" charset="-120"/>
              </a:rPr>
              <a:t>I miner seguono l'elettricità economica... un po' come tutti noi seguiamo i saldi. 🏃💰</a:t>
            </a:r>
            <a:endParaRPr lang="en-US" sz="1300" dirty="0"/>
          </a:p>
        </p:txBody>
      </p:sp>
      <p:sp>
        <p:nvSpPr>
          <p:cNvPr id="15" name="Text 12"/>
          <p:cNvSpPr txBox="1"/>
          <p:nvPr/>
        </p:nvSpPr>
        <p:spPr>
          <a:xfrm>
            <a:off x="7772400" y="5029200"/>
            <a:ext cx="3840480" cy="155448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Ogni quartile riunisce i paesi con costo di mining simile. Per ciascuno si costruisce un unico indice di domanda elettrica con la PCA (Analisi delle Componenti Principali), che cattura dal 50% al 79,5% della variazione dei dati del gruppo.</a:t>
            </a:r>
            <a:endParaRPr lang="en-US" sz="1250" dirty="0"/>
          </a:p>
        </p:txBody>
      </p:sp>
      <p:sp>
        <p:nvSpPr>
          <p:cNvPr id="16" name="Text 1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IL METODO</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Come si misura “chi guida chi”</a:t>
            </a:r>
            <a:endParaRPr lang="en-US" sz="2700" dirty="0"/>
          </a:p>
        </p:txBody>
      </p:sp>
      <p:sp>
        <p:nvSpPr>
          <p:cNvPr id="6" name="Shape 4"/>
          <p:cNvSpPr/>
          <p:nvPr/>
        </p:nvSpPr>
        <p:spPr>
          <a:xfrm>
            <a:off x="1508760" y="2148840"/>
            <a:ext cx="2468880" cy="868680"/>
          </a:xfrm>
          <a:prstGeom prst="roundRect">
            <a:avLst>
              <a:gd name="adj" fmla="val 10526"/>
            </a:avLst>
          </a:prstGeom>
          <a:solidFill>
            <a:srgbClr val="2E4374"/>
          </a:solidFill>
          <a:ln/>
        </p:spPr>
        <p:txBody>
          <a:bodyPr/>
          <a:lstStyle/>
          <a:p>
            <a:endParaRPr lang="it-IT"/>
          </a:p>
        </p:txBody>
      </p:sp>
      <p:sp>
        <p:nvSpPr>
          <p:cNvPr id="7" name="Text 5"/>
          <p:cNvSpPr txBox="1"/>
          <p:nvPr/>
        </p:nvSpPr>
        <p:spPr>
          <a:xfrm>
            <a:off x="1508760" y="2148840"/>
            <a:ext cx="246888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 (passato)</a:t>
            </a:r>
            <a:endParaRPr lang="en-US" sz="1600" dirty="0"/>
          </a:p>
        </p:txBody>
      </p:sp>
      <p:sp>
        <p:nvSpPr>
          <p:cNvPr id="8" name="Shape 6"/>
          <p:cNvSpPr/>
          <p:nvPr/>
        </p:nvSpPr>
        <p:spPr>
          <a:xfrm>
            <a:off x="8211312" y="2148840"/>
            <a:ext cx="2468880" cy="868680"/>
          </a:xfrm>
          <a:prstGeom prst="roundRect">
            <a:avLst>
              <a:gd name="adj" fmla="val 10526"/>
            </a:avLst>
          </a:prstGeom>
          <a:solidFill>
            <a:srgbClr val="1D8A8A"/>
          </a:solidFill>
          <a:ln/>
        </p:spPr>
        <p:txBody>
          <a:bodyPr/>
          <a:lstStyle/>
          <a:p>
            <a:endParaRPr lang="it-IT"/>
          </a:p>
        </p:txBody>
      </p:sp>
      <p:sp>
        <p:nvSpPr>
          <p:cNvPr id="9" name="Text 7"/>
          <p:cNvSpPr txBox="1"/>
          <p:nvPr/>
        </p:nvSpPr>
        <p:spPr>
          <a:xfrm>
            <a:off x="8211312" y="2148840"/>
            <a:ext cx="246888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 (futuro)</a:t>
            </a:r>
            <a:endParaRPr lang="en-US" sz="1600" dirty="0"/>
          </a:p>
        </p:txBody>
      </p:sp>
      <p:sp>
        <p:nvSpPr>
          <p:cNvPr id="10" name="Shape 8"/>
          <p:cNvSpPr/>
          <p:nvPr/>
        </p:nvSpPr>
        <p:spPr>
          <a:xfrm>
            <a:off x="4069080" y="2583180"/>
            <a:ext cx="4050792" cy="9144"/>
          </a:xfrm>
          <a:prstGeom prst="line">
            <a:avLst/>
          </a:prstGeom>
          <a:noFill/>
          <a:ln w="38100">
            <a:solidFill>
              <a:srgbClr val="FF6B4A"/>
            </a:solidFill>
            <a:prstDash val="solid"/>
            <a:headEnd type="none"/>
            <a:tailEnd type="triangle"/>
          </a:ln>
        </p:spPr>
        <p:txBody>
          <a:bodyPr/>
          <a:lstStyle/>
          <a:p>
            <a:endParaRPr lang="it-IT"/>
          </a:p>
        </p:txBody>
      </p:sp>
      <p:sp>
        <p:nvSpPr>
          <p:cNvPr id="11" name="Text 9"/>
          <p:cNvSpPr txBox="1"/>
          <p:nvPr/>
        </p:nvSpPr>
        <p:spPr>
          <a:xfrm>
            <a:off x="4069080" y="1764792"/>
            <a:ext cx="4050792" cy="365760"/>
          </a:xfrm>
          <a:prstGeom prst="rect">
            <a:avLst/>
          </a:prstGeom>
          <a:noFill/>
          <a:ln/>
        </p:spPr>
        <p:txBody>
          <a:bodyPr wrap="square" lIns="0" tIns="0" rIns="0" bIns="0" rtlCol="0" anchor="ctr"/>
          <a:lstStyle/>
          <a:p>
            <a:pPr marL="0" indent="0" algn="ctr">
              <a:buNone/>
            </a:pPr>
            <a:r>
              <a:rPr lang="en-US" sz="1300" b="1" dirty="0">
                <a:solidFill>
                  <a:srgbClr val="2E4374"/>
                </a:solidFill>
                <a:latin typeface="Calibri" pitchFamily="34" charset="0"/>
                <a:ea typeface="Calibri" pitchFamily="34" charset="-122"/>
                <a:cs typeface="Calibri" pitchFamily="34" charset="-120"/>
              </a:rPr>
              <a:t>aiuta a prevedere?</a:t>
            </a:r>
            <a:endParaRPr lang="en-US" sz="1300" dirty="0"/>
          </a:p>
        </p:txBody>
      </p:sp>
      <p:sp>
        <p:nvSpPr>
          <p:cNvPr id="12" name="Text 10"/>
          <p:cNvSpPr txBox="1"/>
          <p:nvPr/>
        </p:nvSpPr>
        <p:spPr>
          <a:xfrm>
            <a:off x="1508760" y="3154680"/>
            <a:ext cx="9171432" cy="365760"/>
          </a:xfrm>
          <a:prstGeom prst="rect">
            <a:avLst/>
          </a:prstGeom>
          <a:noFill/>
          <a:ln/>
        </p:spPr>
        <p:txBody>
          <a:bodyPr wrap="square" lIns="0" tIns="0" rIns="0" bIns="0" rtlCol="0" anchor="ctr"/>
          <a:lstStyle/>
          <a:p>
            <a:pPr marL="0" indent="0" algn="ctr">
              <a:buNone/>
            </a:pPr>
            <a:r>
              <a:rPr lang="en-US" sz="1350" i="1" dirty="0">
                <a:solidFill>
                  <a:srgbClr val="6B7280"/>
                </a:solidFill>
                <a:latin typeface="Calibri" pitchFamily="34" charset="0"/>
                <a:ea typeface="Calibri" pitchFamily="34" charset="-122"/>
                <a:cs typeface="Calibri" pitchFamily="34" charset="-120"/>
              </a:rPr>
              <a:t>se sì  →  “A causa alla Granger B”</a:t>
            </a:r>
            <a:endParaRPr lang="en-US" sz="1350" dirty="0"/>
          </a:p>
        </p:txBody>
      </p:sp>
      <p:sp>
        <p:nvSpPr>
          <p:cNvPr id="13" name="Shape 11"/>
          <p:cNvSpPr/>
          <p:nvPr/>
        </p:nvSpPr>
        <p:spPr>
          <a:xfrm>
            <a:off x="2651760" y="3657600"/>
            <a:ext cx="3200400" cy="365760"/>
          </a:xfrm>
          <a:prstGeom prst="roundRect">
            <a:avLst>
              <a:gd name="adj" fmla="val 50000"/>
            </a:avLst>
          </a:prstGeom>
          <a:solidFill>
            <a:srgbClr val="2E4374"/>
          </a:solidFill>
          <a:ln/>
        </p:spPr>
        <p:txBody>
          <a:bodyPr/>
          <a:lstStyle/>
          <a:p>
            <a:endParaRPr lang="it-IT"/>
          </a:p>
        </p:txBody>
      </p:sp>
      <p:sp>
        <p:nvSpPr>
          <p:cNvPr id="14" name="Text 12"/>
          <p:cNvSpPr txBox="1"/>
          <p:nvPr/>
        </p:nvSpPr>
        <p:spPr>
          <a:xfrm>
            <a:off x="2651760" y="3657600"/>
            <a:ext cx="3200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Test lineare (parametrico)</a:t>
            </a:r>
            <a:endParaRPr lang="en-US" sz="1200" dirty="0"/>
          </a:p>
        </p:txBody>
      </p:sp>
      <p:sp>
        <p:nvSpPr>
          <p:cNvPr id="15" name="Shape 13"/>
          <p:cNvSpPr/>
          <p:nvPr/>
        </p:nvSpPr>
        <p:spPr>
          <a:xfrm>
            <a:off x="6035040" y="3657600"/>
            <a:ext cx="3566160" cy="365760"/>
          </a:xfrm>
          <a:prstGeom prst="roundRect">
            <a:avLst>
              <a:gd name="adj" fmla="val 50000"/>
            </a:avLst>
          </a:prstGeom>
          <a:solidFill>
            <a:srgbClr val="1D8A8A"/>
          </a:solidFill>
          <a:ln/>
        </p:spPr>
        <p:txBody>
          <a:bodyPr/>
          <a:lstStyle/>
          <a:p>
            <a:endParaRPr lang="it-IT"/>
          </a:p>
        </p:txBody>
      </p:sp>
      <p:sp>
        <p:nvSpPr>
          <p:cNvPr id="16" name="Text 14"/>
          <p:cNvSpPr txBox="1"/>
          <p:nvPr/>
        </p:nvSpPr>
        <p:spPr>
          <a:xfrm>
            <a:off x="6035040" y="3657600"/>
            <a:ext cx="35661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Test non lineare (Diks–Panchenko)</a:t>
            </a:r>
            <a:endParaRPr lang="en-US" sz="1200" dirty="0"/>
          </a:p>
        </p:txBody>
      </p:sp>
      <p:sp>
        <p:nvSpPr>
          <p:cNvPr id="17" name="Shape 15"/>
          <p:cNvSpPr/>
          <p:nvPr/>
        </p:nvSpPr>
        <p:spPr>
          <a:xfrm>
            <a:off x="868680" y="5074920"/>
            <a:ext cx="10424160" cy="0"/>
          </a:xfrm>
          <a:prstGeom prst="line">
            <a:avLst/>
          </a:prstGeom>
          <a:noFill/>
          <a:ln w="19050">
            <a:solidFill>
              <a:srgbClr val="E8DECE"/>
            </a:solidFill>
            <a:prstDash val="solid"/>
          </a:ln>
        </p:spPr>
        <p:txBody>
          <a:bodyPr/>
          <a:lstStyle/>
          <a:p>
            <a:endParaRPr lang="it-IT"/>
          </a:p>
        </p:txBody>
      </p:sp>
      <p:sp>
        <p:nvSpPr>
          <p:cNvPr id="18" name="Shape 16"/>
          <p:cNvSpPr/>
          <p:nvPr/>
        </p:nvSpPr>
        <p:spPr>
          <a:xfrm>
            <a:off x="868680" y="5257800"/>
            <a:ext cx="640080" cy="640080"/>
          </a:xfrm>
          <a:prstGeom prst="ellipse">
            <a:avLst/>
          </a:prstGeom>
          <a:solidFill>
            <a:srgbClr val="FF6B4A"/>
          </a:solidFill>
          <a:ln/>
        </p:spPr>
        <p:txBody>
          <a:bodyPr/>
          <a:lstStyle/>
          <a:p>
            <a:endParaRPr lang="it-IT"/>
          </a:p>
        </p:txBody>
      </p:sp>
      <p:pic>
        <p:nvPicPr>
          <p:cNvPr id="19" name="Image 0" descr="icons/wave_white.png"/>
          <p:cNvPicPr>
            <a:picLocks noChangeAspect="1"/>
          </p:cNvPicPr>
          <p:nvPr/>
        </p:nvPicPr>
        <p:blipFill>
          <a:blip r:embed="rId3"/>
          <a:stretch>
            <a:fillRect/>
          </a:stretch>
        </p:blipFill>
        <p:spPr>
          <a:xfrm>
            <a:off x="951890" y="5341010"/>
            <a:ext cx="473659" cy="473659"/>
          </a:xfrm>
          <a:prstGeom prst="rect">
            <a:avLst/>
          </a:prstGeom>
        </p:spPr>
      </p:pic>
      <p:sp>
        <p:nvSpPr>
          <p:cNvPr id="20" name="Text 17"/>
          <p:cNvSpPr txBox="1"/>
          <p:nvPr/>
        </p:nvSpPr>
        <p:spPr>
          <a:xfrm>
            <a:off x="1737360" y="5285232"/>
            <a:ext cx="9601200" cy="347472"/>
          </a:xfrm>
          <a:prstGeom prst="rect">
            <a:avLst/>
          </a:prstGeom>
          <a:noFill/>
          <a:ln/>
        </p:spPr>
        <p:txBody>
          <a:bodyPr wrap="square" lIns="0" tIns="0" rIns="0" bIns="0" rtlCol="0" anchor="ctr"/>
          <a:lstStyle/>
          <a:p>
            <a:pPr marL="0" indent="0">
              <a:buNone/>
            </a:pPr>
            <a:r>
              <a:rPr lang="en-US" sz="1500" b="1" dirty="0">
                <a:solidFill>
                  <a:srgbClr val="2E4374"/>
                </a:solidFill>
                <a:latin typeface="Calibri" pitchFamily="34" charset="0"/>
                <a:ea typeface="Calibri" pitchFamily="34" charset="-122"/>
                <a:cs typeface="Calibri" pitchFamily="34" charset="-120"/>
              </a:rPr>
              <a:t>+ La volatilità: non il livello, ma le oscillazioni</a:t>
            </a:r>
            <a:endParaRPr lang="en-US" sz="1500" dirty="0"/>
          </a:p>
        </p:txBody>
      </p:sp>
      <p:sp>
        <p:nvSpPr>
          <p:cNvPr id="21" name="Text 18"/>
          <p:cNvSpPr txBox="1"/>
          <p:nvPr/>
        </p:nvSpPr>
        <p:spPr>
          <a:xfrm>
            <a:off x="1737360" y="5614416"/>
            <a:ext cx="9601200" cy="640080"/>
          </a:xfrm>
          <a:prstGeom prst="rect">
            <a:avLst/>
          </a:prstGeom>
          <a:noFill/>
          <a:ln/>
        </p:spPr>
        <p:txBody>
          <a:bodyPr wrap="square" lIns="0" tIns="0" rIns="0" bIns="0" rtlCol="0" anchor="ctr"/>
          <a:lstStyle/>
          <a:p>
            <a:pPr marL="0" indent="0">
              <a:lnSpc>
                <a:spcPts val="1600"/>
              </a:lnSpc>
              <a:buNone/>
            </a:pPr>
            <a:r>
              <a:rPr lang="en-US" sz="1250" dirty="0">
                <a:solidFill>
                  <a:srgbClr val="6B7280"/>
                </a:solidFill>
                <a:latin typeface="Calibri" pitchFamily="34" charset="0"/>
                <a:ea typeface="Calibri" pitchFamily="34" charset="-122"/>
                <a:cs typeface="Calibri" pitchFamily="34" charset="-120"/>
              </a:rPr>
              <a:t>Le turbolenze di un mercato si trasmettono all'altro? Si stima con un modello GJR-BEKK (famiglia GARCH, con componente asimmetrica) e si testa con un test di Wald.</a:t>
            </a:r>
            <a:endParaRPr lang="en-US" sz="1250" dirty="0"/>
          </a:p>
        </p:txBody>
      </p:sp>
      <p:sp>
        <p:nvSpPr>
          <p:cNvPr id="22" name="Text 1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RISULTATO 1</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Chi guida chi tra prezzo e hash rate?</a:t>
            </a:r>
            <a:endParaRPr lang="en-US" sz="2700" dirty="0"/>
          </a:p>
        </p:txBody>
      </p:sp>
      <p:sp>
        <p:nvSpPr>
          <p:cNvPr id="6" name="Shape 4"/>
          <p:cNvSpPr/>
          <p:nvPr/>
        </p:nvSpPr>
        <p:spPr>
          <a:xfrm>
            <a:off x="594360" y="1737360"/>
            <a:ext cx="5349240" cy="365760"/>
          </a:xfrm>
          <a:prstGeom prst="roundRect">
            <a:avLst>
              <a:gd name="adj" fmla="val 50000"/>
            </a:avLst>
          </a:prstGeom>
          <a:solidFill>
            <a:srgbClr val="2E4374"/>
          </a:solidFill>
          <a:ln/>
        </p:spPr>
        <p:txBody>
          <a:bodyPr/>
          <a:lstStyle/>
          <a:p>
            <a:endParaRPr lang="it-IT"/>
          </a:p>
        </p:txBody>
      </p:sp>
      <p:sp>
        <p:nvSpPr>
          <p:cNvPr id="7" name="Text 5"/>
          <p:cNvSpPr txBox="1"/>
          <p:nvPr/>
        </p:nvSpPr>
        <p:spPr>
          <a:xfrm>
            <a:off x="594360" y="1737360"/>
            <a:ext cx="5349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BITCOIN</a:t>
            </a:r>
            <a:endParaRPr lang="en-US" sz="1200" dirty="0"/>
          </a:p>
        </p:txBody>
      </p:sp>
      <p:sp>
        <p:nvSpPr>
          <p:cNvPr id="8" name="Shape 6"/>
          <p:cNvSpPr/>
          <p:nvPr/>
        </p:nvSpPr>
        <p:spPr>
          <a:xfrm>
            <a:off x="6263640" y="1737360"/>
            <a:ext cx="5349240" cy="365760"/>
          </a:xfrm>
          <a:prstGeom prst="roundRect">
            <a:avLst>
              <a:gd name="adj" fmla="val 50000"/>
            </a:avLst>
          </a:prstGeom>
          <a:solidFill>
            <a:srgbClr val="1D8A8A"/>
          </a:solidFill>
          <a:ln/>
        </p:spPr>
        <p:txBody>
          <a:bodyPr/>
          <a:lstStyle/>
          <a:p>
            <a:endParaRPr lang="it-IT"/>
          </a:p>
        </p:txBody>
      </p:sp>
      <p:sp>
        <p:nvSpPr>
          <p:cNvPr id="9" name="Text 7"/>
          <p:cNvSpPr txBox="1"/>
          <p:nvPr/>
        </p:nvSpPr>
        <p:spPr>
          <a:xfrm>
            <a:off x="6263640" y="1737360"/>
            <a:ext cx="53492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ETHEREUM</a:t>
            </a:r>
            <a:endParaRPr lang="en-US" sz="1200" dirty="0"/>
          </a:p>
        </p:txBody>
      </p:sp>
      <p:sp>
        <p:nvSpPr>
          <p:cNvPr id="10" name="Shape 8"/>
          <p:cNvSpPr/>
          <p:nvPr/>
        </p:nvSpPr>
        <p:spPr>
          <a:xfrm>
            <a:off x="594360" y="2240280"/>
            <a:ext cx="5349240" cy="2788920"/>
          </a:xfrm>
          <a:prstGeom prst="roundRect">
            <a:avLst>
              <a:gd name="adj" fmla="val 3934"/>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graphicFrame>
        <p:nvGraphicFramePr>
          <p:cNvPr id="11" name="Chart 0"/>
          <p:cNvGraphicFramePr/>
          <p:nvPr/>
        </p:nvGraphicFramePr>
        <p:xfrm>
          <a:off x="822960" y="2423160"/>
          <a:ext cx="489204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263640" y="2240280"/>
            <a:ext cx="5349240" cy="2788920"/>
          </a:xfrm>
          <a:prstGeom prst="roundRect">
            <a:avLst>
              <a:gd name="adj" fmla="val 3934"/>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graphicFrame>
        <p:nvGraphicFramePr>
          <p:cNvPr id="13" name="Chart 1"/>
          <p:cNvGraphicFramePr/>
          <p:nvPr/>
        </p:nvGraphicFramePr>
        <p:xfrm>
          <a:off x="6492240" y="2423160"/>
          <a:ext cx="489204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3657600" y="5257800"/>
            <a:ext cx="182880" cy="182880"/>
          </a:xfrm>
          <a:prstGeom prst="rect">
            <a:avLst/>
          </a:prstGeom>
          <a:solidFill>
            <a:srgbClr val="2E4374"/>
          </a:solidFill>
          <a:ln/>
        </p:spPr>
        <p:txBody>
          <a:bodyPr/>
          <a:lstStyle/>
          <a:p>
            <a:endParaRPr lang="it-IT"/>
          </a:p>
        </p:txBody>
      </p:sp>
      <p:sp>
        <p:nvSpPr>
          <p:cNvPr id="15" name="Text 11"/>
          <p:cNvSpPr txBox="1"/>
          <p:nvPr/>
        </p:nvSpPr>
        <p:spPr>
          <a:xfrm>
            <a:off x="3931920" y="5202936"/>
            <a:ext cx="2103120" cy="292608"/>
          </a:xfrm>
          <a:prstGeom prst="rect">
            <a:avLst/>
          </a:prstGeom>
          <a:noFill/>
          <a:ln/>
        </p:spPr>
        <p:txBody>
          <a:bodyPr wrap="square" lIns="0" tIns="0" rIns="0" bIns="0" rtlCol="0" anchor="ctr"/>
          <a:lstStyle/>
          <a:p>
            <a:pPr marL="0" indent="0">
              <a:buNone/>
            </a:pPr>
            <a:r>
              <a:rPr lang="en-US" sz="1200" dirty="0">
                <a:solidFill>
                  <a:srgbClr val="26293A"/>
                </a:solidFill>
                <a:latin typeface="Calibri" pitchFamily="34" charset="0"/>
                <a:ea typeface="Calibri" pitchFamily="34" charset="-122"/>
                <a:cs typeface="Calibri" pitchFamily="34" charset="-120"/>
              </a:rPr>
              <a:t>Test lineare</a:t>
            </a:r>
            <a:endParaRPr lang="en-US" sz="1200" dirty="0"/>
          </a:p>
        </p:txBody>
      </p:sp>
      <p:sp>
        <p:nvSpPr>
          <p:cNvPr id="16" name="Shape 12"/>
          <p:cNvSpPr/>
          <p:nvPr/>
        </p:nvSpPr>
        <p:spPr>
          <a:xfrm>
            <a:off x="5852160" y="5257800"/>
            <a:ext cx="182880" cy="182880"/>
          </a:xfrm>
          <a:prstGeom prst="rect">
            <a:avLst/>
          </a:prstGeom>
          <a:solidFill>
            <a:srgbClr val="FF6B4A"/>
          </a:solidFill>
          <a:ln/>
        </p:spPr>
        <p:txBody>
          <a:bodyPr/>
          <a:lstStyle/>
          <a:p>
            <a:endParaRPr lang="it-IT"/>
          </a:p>
        </p:txBody>
      </p:sp>
      <p:sp>
        <p:nvSpPr>
          <p:cNvPr id="17" name="Text 13"/>
          <p:cNvSpPr txBox="1"/>
          <p:nvPr/>
        </p:nvSpPr>
        <p:spPr>
          <a:xfrm>
            <a:off x="6126480" y="5202936"/>
            <a:ext cx="2103120" cy="292608"/>
          </a:xfrm>
          <a:prstGeom prst="rect">
            <a:avLst/>
          </a:prstGeom>
          <a:noFill/>
          <a:ln/>
        </p:spPr>
        <p:txBody>
          <a:bodyPr wrap="square" lIns="0" tIns="0" rIns="0" bIns="0" rtlCol="0" anchor="ctr"/>
          <a:lstStyle/>
          <a:p>
            <a:pPr marL="0" indent="0">
              <a:buNone/>
            </a:pPr>
            <a:r>
              <a:rPr lang="en-US" sz="1200" dirty="0">
                <a:solidFill>
                  <a:srgbClr val="26293A"/>
                </a:solidFill>
                <a:latin typeface="Calibri" pitchFamily="34" charset="0"/>
                <a:ea typeface="Calibri" pitchFamily="34" charset="-122"/>
                <a:cs typeface="Calibri" pitchFamily="34" charset="-120"/>
              </a:rPr>
              <a:t>Test non lineare</a:t>
            </a:r>
            <a:endParaRPr lang="en-US" sz="1200" dirty="0"/>
          </a:p>
        </p:txBody>
      </p:sp>
      <p:sp>
        <p:nvSpPr>
          <p:cNvPr id="18" name="Text 14"/>
          <p:cNvSpPr txBox="1"/>
          <p:nvPr/>
        </p:nvSpPr>
        <p:spPr>
          <a:xfrm>
            <a:off x="1188720" y="5715000"/>
            <a:ext cx="9784080" cy="640080"/>
          </a:xfrm>
          <a:prstGeom prst="rect">
            <a:avLst/>
          </a:prstGeom>
          <a:noFill/>
          <a:ln/>
        </p:spPr>
        <p:txBody>
          <a:bodyPr wrap="square" lIns="0" tIns="0" rIns="0" bIns="0" rtlCol="0" anchor="ctr"/>
          <a:lstStyle/>
          <a:p>
            <a:pPr marL="0" indent="0" algn="ctr">
              <a:lnSpc>
                <a:spcPts val="1700"/>
              </a:lnSpc>
              <a:buNone/>
            </a:pPr>
            <a:r>
              <a:rPr lang="en-US" sz="1250" i="1" dirty="0">
                <a:solidFill>
                  <a:srgbClr val="6B7280"/>
                </a:solidFill>
                <a:latin typeface="Calibri" pitchFamily="34" charset="0"/>
                <a:ea typeface="Calibri" pitchFamily="34" charset="-122"/>
                <a:cs typeface="Calibri" pitchFamily="34" charset="-120"/>
              </a:rPr>
              <a:t>H → P = Hash Rate → Prezzo · P → H = Prezzo → Hash Rate. Statistica del test di Granger: più alta = legame più forte (0,721 = unico valore non significativo).</a:t>
            </a:r>
            <a:endParaRPr lang="en-US" sz="1250" dirty="0"/>
          </a:p>
        </p:txBody>
      </p:sp>
      <p:sp>
        <p:nvSpPr>
          <p:cNvPr id="19" name="Text 1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RISULTATO 2</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400" b="1" dirty="0">
                <a:solidFill>
                  <a:srgbClr val="2E4374"/>
                </a:solidFill>
                <a:latin typeface="Verdana" pitchFamily="34" charset="0"/>
                <a:ea typeface="Verdana" pitchFamily="34" charset="-122"/>
                <a:cs typeface="Verdana" pitchFamily="34" charset="-120"/>
              </a:rPr>
              <a:t>I rendimenti di Bitcoin spingono la domanda di elettricità</a:t>
            </a:r>
            <a:endParaRPr lang="en-US" sz="2400" dirty="0"/>
          </a:p>
        </p:txBody>
      </p:sp>
      <p:sp>
        <p:nvSpPr>
          <p:cNvPr id="6" name="Shape 4"/>
          <p:cNvSpPr/>
          <p:nvPr/>
        </p:nvSpPr>
        <p:spPr>
          <a:xfrm>
            <a:off x="1280160" y="1828800"/>
            <a:ext cx="9601200" cy="2926080"/>
          </a:xfrm>
          <a:prstGeom prst="roundRect">
            <a:avLst>
              <a:gd name="adj" fmla="val 3750"/>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graphicFrame>
        <p:nvGraphicFramePr>
          <p:cNvPr id="7" name="Chart 0"/>
          <p:cNvGraphicFramePr/>
          <p:nvPr/>
        </p:nvGraphicFramePr>
        <p:xfrm>
          <a:off x="1554480" y="2011680"/>
          <a:ext cx="905256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1280160" y="4846320"/>
            <a:ext cx="9601200" cy="320040"/>
          </a:xfrm>
          <a:prstGeom prst="rect">
            <a:avLst/>
          </a:prstGeom>
          <a:noFill/>
          <a:ln/>
        </p:spPr>
        <p:txBody>
          <a:bodyPr wrap="square" lIns="0" tIns="0" rIns="0" bIns="0" rtlCol="0" anchor="ctr"/>
          <a:lstStyle/>
          <a:p>
            <a:pPr marL="0" indent="0" algn="ctr">
              <a:buNone/>
            </a:pPr>
            <a:r>
              <a:rPr lang="en-US" sz="1150" i="1" dirty="0">
                <a:solidFill>
                  <a:srgbClr val="6B7280"/>
                </a:solidFill>
                <a:latin typeface="Calibri" pitchFamily="34" charset="0"/>
                <a:ea typeface="Calibri" pitchFamily="34" charset="-122"/>
                <a:cs typeface="Calibri" pitchFamily="34" charset="-120"/>
              </a:rPr>
              <a:t>Statistica del test di Granger per gruppo di paesi — Q50 è l'unico valore non significativo</a:t>
            </a:r>
            <a:endParaRPr lang="en-US" sz="1150" dirty="0"/>
          </a:p>
        </p:txBody>
      </p:sp>
      <p:sp>
        <p:nvSpPr>
          <p:cNvPr id="9" name="Text 6"/>
          <p:cNvSpPr txBox="1"/>
          <p:nvPr/>
        </p:nvSpPr>
        <p:spPr>
          <a:xfrm>
            <a:off x="914400" y="5303520"/>
            <a:ext cx="10332720" cy="365760"/>
          </a:xfrm>
          <a:prstGeom prst="rect">
            <a:avLst/>
          </a:prstGeom>
          <a:noFill/>
          <a:ln/>
        </p:spPr>
        <p:txBody>
          <a:bodyPr wrap="square" lIns="0" tIns="0" rIns="0" bIns="0" rtlCol="0" anchor="ctr"/>
          <a:lstStyle/>
          <a:p>
            <a:pPr marL="0" indent="0" algn="ctr">
              <a:buNone/>
            </a:pPr>
            <a:r>
              <a:rPr lang="en-US" sz="1500" b="1" dirty="0">
                <a:solidFill>
                  <a:srgbClr val="2E4374"/>
                </a:solidFill>
                <a:latin typeface="Calibri" pitchFamily="34" charset="0"/>
                <a:ea typeface="Calibri" pitchFamily="34" charset="-122"/>
                <a:cs typeface="Calibri" pitchFamily="34" charset="-120"/>
              </a:rPr>
              <a:t>Ethereum: mai significativo, in nessun gruppo di paesi.</a:t>
            </a:r>
            <a:endParaRPr lang="en-US" sz="1500" dirty="0"/>
          </a:p>
        </p:txBody>
      </p:sp>
      <p:sp>
        <p:nvSpPr>
          <p:cNvPr id="10" name="Text 7"/>
          <p:cNvSpPr txBox="1"/>
          <p:nvPr/>
        </p:nvSpPr>
        <p:spPr>
          <a:xfrm>
            <a:off x="1554480" y="5715000"/>
            <a:ext cx="9144000" cy="822960"/>
          </a:xfrm>
          <a:prstGeom prst="rect">
            <a:avLst/>
          </a:prstGeom>
          <a:noFill/>
          <a:ln/>
        </p:spPr>
        <p:txBody>
          <a:bodyPr wrap="square" lIns="0" tIns="0" rIns="0" bIns="0" rtlCol="0" anchor="ctr"/>
          <a:lstStyle/>
          <a:p>
            <a:pPr marL="0" indent="0" algn="ctr">
              <a:lnSpc>
                <a:spcPts val="1700"/>
              </a:lnSpc>
              <a:buNone/>
            </a:pPr>
            <a:r>
              <a:rPr lang="en-US" sz="1250" i="1" dirty="0">
                <a:solidFill>
                  <a:srgbClr val="6B7280"/>
                </a:solidFill>
                <a:latin typeface="Calibri" pitchFamily="34" charset="0"/>
                <a:ea typeface="Calibri" pitchFamily="34" charset="-122"/>
                <a:cs typeface="Calibri" pitchFamily="34" charset="-120"/>
              </a:rPr>
              <a:t>I rendimenti spingono i miner verso l'elettricità economica (Q25) — ma l'effetto vale anche in USA, Cina e Giappone (Q75/Q100): la maturità del loro mercato cripto compensa il costo elettrico più alto.</a:t>
            </a:r>
            <a:endParaRPr lang="en-US" sz="1250" dirty="0"/>
          </a:p>
        </p:txBody>
      </p:sp>
      <p:sp>
        <p:nvSpPr>
          <p:cNvPr id="11" name="Text 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RISULTATO 3</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La volatilità è a senso unico</a:t>
            </a:r>
            <a:endParaRPr lang="en-US" sz="2700" dirty="0"/>
          </a:p>
        </p:txBody>
      </p:sp>
      <p:sp>
        <p:nvSpPr>
          <p:cNvPr id="6" name="Shape 4"/>
          <p:cNvSpPr/>
          <p:nvPr/>
        </p:nvSpPr>
        <p:spPr>
          <a:xfrm>
            <a:off x="1737360" y="1691640"/>
            <a:ext cx="8686800" cy="2148840"/>
          </a:xfrm>
          <a:prstGeom prst="roundRect">
            <a:avLst>
              <a:gd name="adj" fmla="val 5106"/>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graphicFrame>
        <p:nvGraphicFramePr>
          <p:cNvPr id="7" name="Chart 0"/>
          <p:cNvGraphicFramePr/>
          <p:nvPr/>
        </p:nvGraphicFramePr>
        <p:xfrm>
          <a:off x="1965960" y="1828800"/>
          <a:ext cx="822960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1188720" y="3950208"/>
            <a:ext cx="9784080" cy="548640"/>
          </a:xfrm>
          <a:prstGeom prst="rect">
            <a:avLst/>
          </a:prstGeom>
          <a:noFill/>
          <a:ln/>
        </p:spPr>
        <p:txBody>
          <a:bodyPr wrap="square" lIns="0" tIns="0" rIns="0" bIns="0" rtlCol="0" anchor="ctr"/>
          <a:lstStyle/>
          <a:p>
            <a:pPr marL="0" indent="0" algn="ctr">
              <a:lnSpc>
                <a:spcPts val="1600"/>
              </a:lnSpc>
              <a:buNone/>
            </a:pPr>
            <a:r>
              <a:rPr lang="en-US" sz="1200" i="1" dirty="0">
                <a:solidFill>
                  <a:srgbClr val="6B7280"/>
                </a:solidFill>
                <a:latin typeface="Calibri" pitchFamily="34" charset="0"/>
                <a:ea typeface="Calibri" pitchFamily="34" charset="-122"/>
                <a:cs typeface="Calibri" pitchFamily="34" charset="-120"/>
              </a:rPr>
              <a:t>Statistica di Wald: elettricità → volatilità Bitcoin, per quartile (stessa dinamica, ancora più marcata, per Ethereum). Nella direzione opposta, il test non è mai significativo, in nessun quartile.</a:t>
            </a:r>
            <a:endParaRPr lang="en-US" sz="1200" dirty="0"/>
          </a:p>
        </p:txBody>
      </p:sp>
      <p:sp>
        <p:nvSpPr>
          <p:cNvPr id="12" name="Text 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IMPLICAZIONI</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Che cosa cambia per chi decide</a:t>
            </a:r>
            <a:endParaRPr lang="en-US" sz="2700" dirty="0"/>
          </a:p>
        </p:txBody>
      </p:sp>
      <p:sp>
        <p:nvSpPr>
          <p:cNvPr id="6" name="Shape 4"/>
          <p:cNvSpPr/>
          <p:nvPr/>
        </p:nvSpPr>
        <p:spPr>
          <a:xfrm>
            <a:off x="685800" y="2377440"/>
            <a:ext cx="502920" cy="502920"/>
          </a:xfrm>
          <a:prstGeom prst="ellipse">
            <a:avLst/>
          </a:prstGeom>
          <a:solidFill>
            <a:srgbClr val="2E4374"/>
          </a:solidFill>
          <a:ln/>
        </p:spPr>
        <p:txBody>
          <a:bodyPr/>
          <a:lstStyle/>
          <a:p>
            <a:endParaRPr lang="it-IT"/>
          </a:p>
        </p:txBody>
      </p:sp>
      <p:pic>
        <p:nvPicPr>
          <p:cNvPr id="7" name="Image 0" descr="icons/users_white.png"/>
          <p:cNvPicPr>
            <a:picLocks noChangeAspect="1"/>
          </p:cNvPicPr>
          <p:nvPr/>
        </p:nvPicPr>
        <p:blipFill>
          <a:blip r:embed="rId3"/>
          <a:stretch>
            <a:fillRect/>
          </a:stretch>
        </p:blipFill>
        <p:spPr>
          <a:xfrm>
            <a:off x="751180" y="2442820"/>
            <a:ext cx="372161" cy="372161"/>
          </a:xfrm>
          <a:prstGeom prst="rect">
            <a:avLst/>
          </a:prstGeom>
        </p:spPr>
      </p:pic>
      <p:sp>
        <p:nvSpPr>
          <p:cNvPr id="8" name="Text 5"/>
          <p:cNvSpPr txBox="1"/>
          <p:nvPr/>
        </p:nvSpPr>
        <p:spPr>
          <a:xfrm>
            <a:off x="1371600" y="2340864"/>
            <a:ext cx="9921240" cy="310896"/>
          </a:xfrm>
          <a:prstGeom prst="rect">
            <a:avLst/>
          </a:prstGeom>
          <a:noFill/>
          <a:ln/>
        </p:spPr>
        <p:txBody>
          <a:bodyPr wrap="square" lIns="0" tIns="0" rIns="0" bIns="0" rtlCol="0" anchor="ctr"/>
          <a:lstStyle/>
          <a:p>
            <a:pPr marL="0" indent="0">
              <a:buNone/>
            </a:pPr>
            <a:r>
              <a:rPr lang="en-US" sz="1700" b="1" dirty="0">
                <a:solidFill>
                  <a:srgbClr val="2E4374"/>
                </a:solidFill>
                <a:latin typeface="Calibri" pitchFamily="34" charset="0"/>
                <a:ea typeface="Calibri" pitchFamily="34" charset="-122"/>
                <a:cs typeface="Calibri" pitchFamily="34" charset="-120"/>
              </a:rPr>
              <a:t>Investitori</a:t>
            </a:r>
            <a:endParaRPr lang="en-US" sz="1700" dirty="0"/>
          </a:p>
        </p:txBody>
      </p:sp>
      <p:sp>
        <p:nvSpPr>
          <p:cNvPr id="9" name="Text 6"/>
          <p:cNvSpPr txBox="1"/>
          <p:nvPr/>
        </p:nvSpPr>
        <p:spPr>
          <a:xfrm>
            <a:off x="1371600" y="2651760"/>
            <a:ext cx="9921240" cy="594360"/>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Calibri" pitchFamily="34" charset="0"/>
                <a:ea typeface="Calibri" pitchFamily="34" charset="-122"/>
                <a:cs typeface="Calibri" pitchFamily="34" charset="-120"/>
              </a:rPr>
              <a:t>Monitorare hash rate e prezzo, l'uno per anticipare l'altro, per decidere quando aprire posizioni lunghe o corte.</a:t>
            </a:r>
            <a:endParaRPr lang="en-US" sz="1400" dirty="0"/>
          </a:p>
        </p:txBody>
      </p:sp>
      <p:sp>
        <p:nvSpPr>
          <p:cNvPr id="10" name="Shape 7"/>
          <p:cNvSpPr/>
          <p:nvPr/>
        </p:nvSpPr>
        <p:spPr>
          <a:xfrm>
            <a:off x="685800" y="3611880"/>
            <a:ext cx="502920" cy="502920"/>
          </a:xfrm>
          <a:prstGeom prst="ellipse">
            <a:avLst/>
          </a:prstGeom>
          <a:solidFill>
            <a:srgbClr val="FF6B4A"/>
          </a:solidFill>
          <a:ln/>
        </p:spPr>
        <p:txBody>
          <a:bodyPr/>
          <a:lstStyle/>
          <a:p>
            <a:endParaRPr lang="it-IT"/>
          </a:p>
        </p:txBody>
      </p:sp>
      <p:pic>
        <p:nvPicPr>
          <p:cNvPr id="11" name="Image 1" descr="icons/landmark_white.png"/>
          <p:cNvPicPr>
            <a:picLocks noChangeAspect="1"/>
          </p:cNvPicPr>
          <p:nvPr/>
        </p:nvPicPr>
        <p:blipFill>
          <a:blip r:embed="rId4"/>
          <a:stretch>
            <a:fillRect/>
          </a:stretch>
        </p:blipFill>
        <p:spPr>
          <a:xfrm>
            <a:off x="751180" y="3677260"/>
            <a:ext cx="372161" cy="372161"/>
          </a:xfrm>
          <a:prstGeom prst="rect">
            <a:avLst/>
          </a:prstGeom>
        </p:spPr>
      </p:pic>
      <p:sp>
        <p:nvSpPr>
          <p:cNvPr id="12" name="Text 8"/>
          <p:cNvSpPr txBox="1"/>
          <p:nvPr/>
        </p:nvSpPr>
        <p:spPr>
          <a:xfrm>
            <a:off x="1371600" y="3575304"/>
            <a:ext cx="9921240" cy="310896"/>
          </a:xfrm>
          <a:prstGeom prst="rect">
            <a:avLst/>
          </a:prstGeom>
          <a:noFill/>
          <a:ln/>
        </p:spPr>
        <p:txBody>
          <a:bodyPr wrap="square" lIns="0" tIns="0" rIns="0" bIns="0" rtlCol="0" anchor="ctr"/>
          <a:lstStyle/>
          <a:p>
            <a:pPr marL="0" indent="0">
              <a:buNone/>
            </a:pPr>
            <a:r>
              <a:rPr lang="en-US" sz="1700" b="1" dirty="0">
                <a:solidFill>
                  <a:srgbClr val="2E4374"/>
                </a:solidFill>
                <a:latin typeface="Calibri" pitchFamily="34" charset="0"/>
                <a:ea typeface="Calibri" pitchFamily="34" charset="-122"/>
                <a:cs typeface="Calibri" pitchFamily="34" charset="-120"/>
              </a:rPr>
              <a:t>Governi</a:t>
            </a:r>
            <a:endParaRPr lang="en-US" sz="1700" dirty="0"/>
          </a:p>
        </p:txBody>
      </p:sp>
      <p:sp>
        <p:nvSpPr>
          <p:cNvPr id="13" name="Text 9"/>
          <p:cNvSpPr txBox="1"/>
          <p:nvPr/>
        </p:nvSpPr>
        <p:spPr>
          <a:xfrm>
            <a:off x="1371600" y="3886200"/>
            <a:ext cx="9921240" cy="594360"/>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Calibri" pitchFamily="34" charset="0"/>
                <a:ea typeface="Calibri" pitchFamily="34" charset="-122"/>
                <a:cs typeface="Calibri" pitchFamily="34" charset="-120"/>
              </a:rPr>
              <a:t>Tariffe elettriche più alte quando i rendimenti di Bitcoin crescono, oppure imposte mirate su mining e trading, o energia pulita dedicata ai miner.</a:t>
            </a:r>
            <a:endParaRPr lang="en-US" sz="1400" dirty="0"/>
          </a:p>
        </p:txBody>
      </p:sp>
      <p:sp>
        <p:nvSpPr>
          <p:cNvPr id="14" name="Shape 10"/>
          <p:cNvSpPr/>
          <p:nvPr/>
        </p:nvSpPr>
        <p:spPr>
          <a:xfrm>
            <a:off x="685800" y="4846320"/>
            <a:ext cx="502920" cy="502920"/>
          </a:xfrm>
          <a:prstGeom prst="ellipse">
            <a:avLst/>
          </a:prstGeom>
          <a:solidFill>
            <a:srgbClr val="1D8A8A"/>
          </a:solidFill>
          <a:ln/>
        </p:spPr>
        <p:txBody>
          <a:bodyPr/>
          <a:lstStyle/>
          <a:p>
            <a:endParaRPr lang="it-IT"/>
          </a:p>
        </p:txBody>
      </p:sp>
      <p:pic>
        <p:nvPicPr>
          <p:cNvPr id="15" name="Image 2" descr="icons/globe_white.png"/>
          <p:cNvPicPr>
            <a:picLocks noChangeAspect="1"/>
          </p:cNvPicPr>
          <p:nvPr/>
        </p:nvPicPr>
        <p:blipFill>
          <a:blip r:embed="rId5"/>
          <a:stretch>
            <a:fillRect/>
          </a:stretch>
        </p:blipFill>
        <p:spPr>
          <a:xfrm>
            <a:off x="751180" y="4911700"/>
            <a:ext cx="372161" cy="372161"/>
          </a:xfrm>
          <a:prstGeom prst="rect">
            <a:avLst/>
          </a:prstGeom>
        </p:spPr>
      </p:pic>
      <p:sp>
        <p:nvSpPr>
          <p:cNvPr id="16" name="Text 11"/>
          <p:cNvSpPr txBox="1"/>
          <p:nvPr/>
        </p:nvSpPr>
        <p:spPr>
          <a:xfrm>
            <a:off x="1371600" y="4809744"/>
            <a:ext cx="9921240" cy="310896"/>
          </a:xfrm>
          <a:prstGeom prst="rect">
            <a:avLst/>
          </a:prstGeom>
          <a:noFill/>
          <a:ln/>
        </p:spPr>
        <p:txBody>
          <a:bodyPr wrap="square" lIns="0" tIns="0" rIns="0" bIns="0" rtlCol="0" anchor="ctr"/>
          <a:lstStyle/>
          <a:p>
            <a:pPr marL="0" indent="0">
              <a:buNone/>
            </a:pPr>
            <a:r>
              <a:rPr lang="en-US" sz="1700" b="1" dirty="0">
                <a:solidFill>
                  <a:srgbClr val="2E4374"/>
                </a:solidFill>
                <a:latin typeface="Calibri" pitchFamily="34" charset="0"/>
                <a:ea typeface="Calibri" pitchFamily="34" charset="-122"/>
                <a:cs typeface="Calibri" pitchFamily="34" charset="-120"/>
              </a:rPr>
              <a:t>Livello globale</a:t>
            </a:r>
            <a:endParaRPr lang="en-US" sz="1700" dirty="0"/>
          </a:p>
        </p:txBody>
      </p:sp>
      <p:sp>
        <p:nvSpPr>
          <p:cNvPr id="17" name="Text 12"/>
          <p:cNvSpPr txBox="1"/>
          <p:nvPr/>
        </p:nvSpPr>
        <p:spPr>
          <a:xfrm>
            <a:off x="1371600" y="5120640"/>
            <a:ext cx="9921240" cy="594360"/>
          </a:xfrm>
          <a:prstGeom prst="rect">
            <a:avLst/>
          </a:prstGeom>
          <a:noFill/>
          <a:ln/>
        </p:spPr>
        <p:txBody>
          <a:bodyPr wrap="square" lIns="0" tIns="0" rIns="0" bIns="0" rtlCol="0" anchor="ctr"/>
          <a:lstStyle/>
          <a:p>
            <a:pPr marL="0" indent="0">
              <a:lnSpc>
                <a:spcPts val="1600"/>
              </a:lnSpc>
              <a:buNone/>
            </a:pPr>
            <a:r>
              <a:rPr lang="en-US" sz="1400" dirty="0">
                <a:solidFill>
                  <a:srgbClr val="6B7280"/>
                </a:solidFill>
                <a:latin typeface="Calibri" pitchFamily="34" charset="0"/>
                <a:ea typeface="Calibri" pitchFamily="34" charset="-122"/>
                <a:cs typeface="Calibri" pitchFamily="34" charset="-120"/>
              </a:rPr>
              <a:t>Nessun paese è al riparo: i miner sono mobili. Serve una risposta condivisa, con fonti di energia pulita dedicate al mining.</a:t>
            </a:r>
            <a:endParaRPr lang="en-US" sz="1400" dirty="0"/>
          </a:p>
        </p:txBody>
      </p:sp>
      <p:sp>
        <p:nvSpPr>
          <p:cNvPr id="18" name="Text 1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1"/>
        </a:solidFill>
        <a:effectLst/>
      </p:bgPr>
    </p:bg>
    <p:spTree>
      <p:nvGrpSpPr>
        <p:cNvPr id="1" name=""/>
        <p:cNvGrpSpPr/>
        <p:nvPr/>
      </p:nvGrpSpPr>
      <p:grpSpPr>
        <a:xfrm>
          <a:off x="0" y="0"/>
          <a:ext cx="0" cy="0"/>
          <a:chOff x="0" y="0"/>
          <a:chExt cx="0" cy="0"/>
        </a:xfrm>
      </p:grpSpPr>
      <p:sp>
        <p:nvSpPr>
          <p:cNvPr id="2" name="Shape 0"/>
          <p:cNvSpPr/>
          <p:nvPr/>
        </p:nvSpPr>
        <p:spPr>
          <a:xfrm>
            <a:off x="9262872" y="-2011680"/>
            <a:ext cx="4754880" cy="4754880"/>
          </a:xfrm>
          <a:prstGeom prst="ellipse">
            <a:avLst/>
          </a:prstGeom>
          <a:solidFill>
            <a:srgbClr val="2E4374">
              <a:alpha val="10000"/>
            </a:srgbClr>
          </a:solidFill>
          <a:ln/>
        </p:spPr>
        <p:txBody>
          <a:bodyPr/>
          <a:lstStyle/>
          <a:p>
            <a:endParaRPr lang="it-IT"/>
          </a:p>
        </p:txBody>
      </p:sp>
      <p:sp>
        <p:nvSpPr>
          <p:cNvPr id="3" name="Shape 1"/>
          <p:cNvSpPr/>
          <p:nvPr/>
        </p:nvSpPr>
        <p:spPr>
          <a:xfrm>
            <a:off x="-1828800" y="4480560"/>
            <a:ext cx="3840480" cy="3840480"/>
          </a:xfrm>
          <a:prstGeom prst="ellipse">
            <a:avLst/>
          </a:prstGeom>
          <a:solidFill>
            <a:srgbClr val="FF6B4A">
              <a:alpha val="8000"/>
            </a:srgbClr>
          </a:solidFill>
          <a:ln/>
        </p:spPr>
        <p:txBody>
          <a:bodyPr/>
          <a:lstStyle/>
          <a:p>
            <a:endParaRPr lang="it-IT"/>
          </a:p>
        </p:txBody>
      </p:sp>
      <p:sp>
        <p:nvSpPr>
          <p:cNvPr id="4" name="Text 2"/>
          <p:cNvSpPr/>
          <p:nvPr/>
        </p:nvSpPr>
        <p:spPr>
          <a:xfrm>
            <a:off x="594360" y="384048"/>
            <a:ext cx="8229600" cy="320040"/>
          </a:xfrm>
          <a:prstGeom prst="rect">
            <a:avLst/>
          </a:prstGeom>
          <a:noFill/>
          <a:ln/>
        </p:spPr>
        <p:txBody>
          <a:bodyPr wrap="square"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IN SINTESI</a:t>
            </a:r>
            <a:endParaRPr lang="en-US" sz="1200" dirty="0"/>
          </a:p>
        </p:txBody>
      </p:sp>
      <p:sp>
        <p:nvSpPr>
          <p:cNvPr id="5" name="Text 3"/>
          <p:cNvSpPr txBox="1"/>
          <p:nvPr/>
        </p:nvSpPr>
        <p:spPr>
          <a:xfrm>
            <a:off x="594360" y="685800"/>
            <a:ext cx="10424160" cy="822960"/>
          </a:xfrm>
          <a:prstGeom prst="rect">
            <a:avLst/>
          </a:prstGeom>
          <a:noFill/>
          <a:ln/>
        </p:spPr>
        <p:txBody>
          <a:bodyPr wrap="square" rtlCol="0" anchor="ctr"/>
          <a:lstStyle/>
          <a:p>
            <a:pPr marL="0" indent="0">
              <a:buNone/>
            </a:pPr>
            <a:r>
              <a:rPr lang="en-US" sz="2700" b="1" dirty="0">
                <a:solidFill>
                  <a:srgbClr val="2E4374"/>
                </a:solidFill>
                <a:latin typeface="Verdana" pitchFamily="34" charset="0"/>
                <a:ea typeface="Verdana" pitchFamily="34" charset="-122"/>
                <a:cs typeface="Verdana" pitchFamily="34" charset="-120"/>
              </a:rPr>
              <a:t>Tre legami, un messaggio chiave</a:t>
            </a:r>
            <a:endParaRPr lang="en-US" sz="2700" dirty="0"/>
          </a:p>
        </p:txBody>
      </p:sp>
      <p:sp>
        <p:nvSpPr>
          <p:cNvPr id="6" name="Shape 4"/>
          <p:cNvSpPr/>
          <p:nvPr/>
        </p:nvSpPr>
        <p:spPr>
          <a:xfrm>
            <a:off x="685800" y="2103120"/>
            <a:ext cx="3410712" cy="2148840"/>
          </a:xfrm>
          <a:prstGeom prst="roundRect">
            <a:avLst>
              <a:gd name="adj" fmla="val 5106"/>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7" name="Text 5"/>
          <p:cNvSpPr txBox="1"/>
          <p:nvPr/>
        </p:nvSpPr>
        <p:spPr>
          <a:xfrm>
            <a:off x="914400" y="2240280"/>
            <a:ext cx="914400" cy="640080"/>
          </a:xfrm>
          <a:prstGeom prst="rect">
            <a:avLst/>
          </a:prstGeom>
          <a:noFill/>
          <a:ln/>
        </p:spPr>
        <p:txBody>
          <a:bodyPr wrap="square" lIns="0" tIns="0" rIns="0" bIns="0" rtlCol="0" anchor="ctr"/>
          <a:lstStyle/>
          <a:p>
            <a:pPr marL="0" indent="0">
              <a:buNone/>
            </a:pPr>
            <a:r>
              <a:rPr lang="en-US" sz="3200" b="1" dirty="0">
                <a:solidFill>
                  <a:srgbClr val="2E4374"/>
                </a:solidFill>
                <a:latin typeface="Verdana" pitchFamily="34" charset="0"/>
                <a:ea typeface="Verdana" pitchFamily="34" charset="-122"/>
                <a:cs typeface="Verdana" pitchFamily="34" charset="-120"/>
              </a:rPr>
              <a:t>1</a:t>
            </a:r>
            <a:endParaRPr lang="en-US" sz="3200" dirty="0"/>
          </a:p>
        </p:txBody>
      </p:sp>
      <p:sp>
        <p:nvSpPr>
          <p:cNvPr id="8" name="Text 6"/>
          <p:cNvSpPr txBox="1"/>
          <p:nvPr/>
        </p:nvSpPr>
        <p:spPr>
          <a:xfrm>
            <a:off x="914400" y="2971800"/>
            <a:ext cx="2953512" cy="548640"/>
          </a:xfrm>
          <a:prstGeom prst="rect">
            <a:avLst/>
          </a:prstGeom>
          <a:noFill/>
          <a:ln/>
        </p:spPr>
        <p:txBody>
          <a:bodyPr wrap="square" lIns="0" tIns="0" rIns="0" bIns="0" rtlCol="0" anchor="ctr"/>
          <a:lstStyle/>
          <a:p>
            <a:pPr marL="0" indent="0">
              <a:lnSpc>
                <a:spcPts val="1700"/>
              </a:lnSpc>
              <a:buNone/>
            </a:pPr>
            <a:r>
              <a:rPr lang="en-US" sz="1450" b="1" dirty="0">
                <a:solidFill>
                  <a:srgbClr val="2E4374"/>
                </a:solidFill>
                <a:latin typeface="Calibri" pitchFamily="34" charset="0"/>
                <a:ea typeface="Calibri" pitchFamily="34" charset="-122"/>
                <a:cs typeface="Calibri" pitchFamily="34" charset="-120"/>
              </a:rPr>
              <a:t>Prezzo ⇄ Hash Rate</a:t>
            </a:r>
            <a:endParaRPr lang="en-US" sz="1450" dirty="0"/>
          </a:p>
        </p:txBody>
      </p:sp>
      <p:sp>
        <p:nvSpPr>
          <p:cNvPr id="9" name="Text 7"/>
          <p:cNvSpPr txBox="1"/>
          <p:nvPr/>
        </p:nvSpPr>
        <p:spPr>
          <a:xfrm>
            <a:off x="914400" y="347472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legame bidirezionale, con sfumature diverse tra Bitcoin ed Ethereum</a:t>
            </a:r>
            <a:endParaRPr lang="en-US" sz="1150" dirty="0"/>
          </a:p>
        </p:txBody>
      </p:sp>
      <p:sp>
        <p:nvSpPr>
          <p:cNvPr id="10" name="Shape 8"/>
          <p:cNvSpPr/>
          <p:nvPr/>
        </p:nvSpPr>
        <p:spPr>
          <a:xfrm>
            <a:off x="4416552" y="2103120"/>
            <a:ext cx="3410712" cy="2148840"/>
          </a:xfrm>
          <a:prstGeom prst="roundRect">
            <a:avLst>
              <a:gd name="adj" fmla="val 5106"/>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11" name="Text 9"/>
          <p:cNvSpPr txBox="1"/>
          <p:nvPr/>
        </p:nvSpPr>
        <p:spPr>
          <a:xfrm>
            <a:off x="4645152" y="2240280"/>
            <a:ext cx="914400" cy="640080"/>
          </a:xfrm>
          <a:prstGeom prst="rect">
            <a:avLst/>
          </a:prstGeom>
          <a:noFill/>
          <a:ln/>
        </p:spPr>
        <p:txBody>
          <a:bodyPr wrap="square" lIns="0" tIns="0" rIns="0" bIns="0" rtlCol="0" anchor="ctr"/>
          <a:lstStyle/>
          <a:p>
            <a:pPr marL="0" indent="0">
              <a:buNone/>
            </a:pPr>
            <a:r>
              <a:rPr lang="en-US" sz="3200" b="1" dirty="0">
                <a:solidFill>
                  <a:srgbClr val="FF6B4A"/>
                </a:solidFill>
                <a:latin typeface="Verdana" pitchFamily="34" charset="0"/>
                <a:ea typeface="Verdana" pitchFamily="34" charset="-122"/>
                <a:cs typeface="Verdana" pitchFamily="34" charset="-120"/>
              </a:rPr>
              <a:t>2</a:t>
            </a:r>
            <a:endParaRPr lang="en-US" sz="3200" dirty="0"/>
          </a:p>
        </p:txBody>
      </p:sp>
      <p:sp>
        <p:nvSpPr>
          <p:cNvPr id="12" name="Text 10"/>
          <p:cNvSpPr txBox="1"/>
          <p:nvPr/>
        </p:nvSpPr>
        <p:spPr>
          <a:xfrm>
            <a:off x="4645152" y="2971800"/>
            <a:ext cx="2953512" cy="548640"/>
          </a:xfrm>
          <a:prstGeom prst="rect">
            <a:avLst/>
          </a:prstGeom>
          <a:noFill/>
          <a:ln/>
        </p:spPr>
        <p:txBody>
          <a:bodyPr wrap="square" lIns="0" tIns="0" rIns="0" bIns="0" rtlCol="0" anchor="ctr"/>
          <a:lstStyle/>
          <a:p>
            <a:pPr marL="0" indent="0">
              <a:lnSpc>
                <a:spcPts val="1700"/>
              </a:lnSpc>
              <a:buNone/>
            </a:pPr>
            <a:r>
              <a:rPr lang="en-US" sz="1450" b="1" dirty="0">
                <a:solidFill>
                  <a:srgbClr val="2E4374"/>
                </a:solidFill>
                <a:latin typeface="Calibri" pitchFamily="34" charset="0"/>
                <a:ea typeface="Calibri" pitchFamily="34" charset="-122"/>
                <a:cs typeface="Calibri" pitchFamily="34" charset="-120"/>
              </a:rPr>
              <a:t>Rendimento BTC → Domanda elettrica</a:t>
            </a:r>
            <a:endParaRPr lang="en-US" sz="1450" dirty="0"/>
          </a:p>
        </p:txBody>
      </p:sp>
      <p:sp>
        <p:nvSpPr>
          <p:cNvPr id="13" name="Text 11"/>
          <p:cNvSpPr txBox="1"/>
          <p:nvPr/>
        </p:nvSpPr>
        <p:spPr>
          <a:xfrm>
            <a:off x="4645152" y="347472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legame unidirezionale, globale e nella maggior parte dei gruppi di paesi</a:t>
            </a:r>
            <a:endParaRPr lang="en-US" sz="1150" dirty="0"/>
          </a:p>
        </p:txBody>
      </p:sp>
      <p:sp>
        <p:nvSpPr>
          <p:cNvPr id="14" name="Shape 12"/>
          <p:cNvSpPr/>
          <p:nvPr/>
        </p:nvSpPr>
        <p:spPr>
          <a:xfrm>
            <a:off x="8147304" y="2103120"/>
            <a:ext cx="3410712" cy="2148840"/>
          </a:xfrm>
          <a:prstGeom prst="roundRect">
            <a:avLst>
              <a:gd name="adj" fmla="val 5106"/>
            </a:avLst>
          </a:prstGeom>
          <a:solidFill>
            <a:srgbClr val="FFFFFF"/>
          </a:solidFill>
          <a:ln w="12700">
            <a:solidFill>
              <a:srgbClr val="E8DECE"/>
            </a:solidFill>
            <a:prstDash val="solid"/>
          </a:ln>
          <a:effectLst>
            <a:outerShdw blurRad="101600" dist="38100" dir="5400000" algn="bl" rotWithShape="0">
              <a:srgbClr val="8C7A5E">
                <a:alpha val="18000"/>
              </a:srgbClr>
            </a:outerShdw>
          </a:effectLst>
        </p:spPr>
        <p:txBody>
          <a:bodyPr/>
          <a:lstStyle/>
          <a:p>
            <a:endParaRPr lang="it-IT"/>
          </a:p>
        </p:txBody>
      </p:sp>
      <p:sp>
        <p:nvSpPr>
          <p:cNvPr id="15" name="Text 13"/>
          <p:cNvSpPr txBox="1"/>
          <p:nvPr/>
        </p:nvSpPr>
        <p:spPr>
          <a:xfrm>
            <a:off x="8375904" y="2240280"/>
            <a:ext cx="914400" cy="640080"/>
          </a:xfrm>
          <a:prstGeom prst="rect">
            <a:avLst/>
          </a:prstGeom>
          <a:noFill/>
          <a:ln/>
        </p:spPr>
        <p:txBody>
          <a:bodyPr wrap="square" lIns="0" tIns="0" rIns="0" bIns="0" rtlCol="0" anchor="ctr"/>
          <a:lstStyle/>
          <a:p>
            <a:pPr marL="0" indent="0">
              <a:buNone/>
            </a:pPr>
            <a:r>
              <a:rPr lang="en-US" sz="3200" b="1" dirty="0">
                <a:solidFill>
                  <a:srgbClr val="1D8A8A"/>
                </a:solidFill>
                <a:latin typeface="Verdana" pitchFamily="34" charset="0"/>
                <a:ea typeface="Verdana" pitchFamily="34" charset="-122"/>
                <a:cs typeface="Verdana" pitchFamily="34" charset="-120"/>
              </a:rPr>
              <a:t>3</a:t>
            </a:r>
            <a:endParaRPr lang="en-US" sz="3200" dirty="0"/>
          </a:p>
        </p:txBody>
      </p:sp>
      <p:sp>
        <p:nvSpPr>
          <p:cNvPr id="16" name="Text 14"/>
          <p:cNvSpPr txBox="1"/>
          <p:nvPr/>
        </p:nvSpPr>
        <p:spPr>
          <a:xfrm>
            <a:off x="8375904" y="2971800"/>
            <a:ext cx="2953512" cy="548640"/>
          </a:xfrm>
          <a:prstGeom prst="rect">
            <a:avLst/>
          </a:prstGeom>
          <a:noFill/>
          <a:ln/>
        </p:spPr>
        <p:txBody>
          <a:bodyPr wrap="square" lIns="0" tIns="0" rIns="0" bIns="0" rtlCol="0" anchor="ctr"/>
          <a:lstStyle/>
          <a:p>
            <a:pPr marL="0" indent="0">
              <a:lnSpc>
                <a:spcPts val="1700"/>
              </a:lnSpc>
              <a:buNone/>
            </a:pPr>
            <a:r>
              <a:rPr lang="en-US" sz="1450" b="1" dirty="0">
                <a:solidFill>
                  <a:srgbClr val="2E4374"/>
                </a:solidFill>
                <a:latin typeface="Calibri" pitchFamily="34" charset="0"/>
                <a:ea typeface="Calibri" pitchFamily="34" charset="-122"/>
                <a:cs typeface="Calibri" pitchFamily="34" charset="-120"/>
              </a:rPr>
              <a:t>Domanda elettrica → Volatilità cripto</a:t>
            </a:r>
            <a:endParaRPr lang="en-US" sz="1450" dirty="0"/>
          </a:p>
        </p:txBody>
      </p:sp>
      <p:sp>
        <p:nvSpPr>
          <p:cNvPr id="17" name="Text 15"/>
          <p:cNvSpPr txBox="1"/>
          <p:nvPr/>
        </p:nvSpPr>
        <p:spPr>
          <a:xfrm>
            <a:off x="8375904" y="3474720"/>
            <a:ext cx="2953512"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trasmissione a senso unico, senza ritorno dalle cripto all'elettricità</a:t>
            </a:r>
            <a:endParaRPr lang="en-US" sz="1150" dirty="0"/>
          </a:p>
        </p:txBody>
      </p:sp>
      <p:sp>
        <p:nvSpPr>
          <p:cNvPr id="18" name="Text 16"/>
          <p:cNvSpPr txBox="1"/>
          <p:nvPr/>
        </p:nvSpPr>
        <p:spPr>
          <a:xfrm>
            <a:off x="1188720" y="4617720"/>
            <a:ext cx="9784080" cy="822960"/>
          </a:xfrm>
          <a:prstGeom prst="rect">
            <a:avLst/>
          </a:prstGeom>
          <a:noFill/>
          <a:ln/>
        </p:spPr>
        <p:txBody>
          <a:bodyPr wrap="square" lIns="0" tIns="0" rIns="0" bIns="0" rtlCol="0" anchor="ctr"/>
          <a:lstStyle/>
          <a:p>
            <a:pPr marL="0" indent="0" algn="ctr">
              <a:lnSpc>
                <a:spcPts val="2200"/>
              </a:lnSpc>
              <a:buNone/>
            </a:pPr>
            <a:r>
              <a:rPr lang="en-US" sz="1700" b="1" i="1" dirty="0">
                <a:solidFill>
                  <a:srgbClr val="FF6B4A"/>
                </a:solidFill>
                <a:latin typeface="Verdana" pitchFamily="34" charset="0"/>
                <a:ea typeface="Verdana" pitchFamily="34" charset="-122"/>
                <a:cs typeface="Verdana" pitchFamily="34" charset="-120"/>
              </a:rPr>
              <a:t>Il mining di criptovalute è un fenomeno elettrico globale: servono energie pulite dedicate, non isolate a pochi paesi.</a:t>
            </a:r>
            <a:endParaRPr lang="en-US" sz="1700" dirty="0"/>
          </a:p>
        </p:txBody>
      </p:sp>
      <p:sp>
        <p:nvSpPr>
          <p:cNvPr id="20" name="Text 1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1558</Words>
  <Application>Microsoft Office PowerPoint</Application>
  <PresentationFormat>Widescreen</PresentationFormat>
  <Paragraphs>136</Paragraphs>
  <Slides>11</Slides>
  <Notes>11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11</vt:i4>
      </vt:variant>
    </vt:vector>
  </HeadingPairs>
  <TitlesOfParts>
    <vt:vector size="15" baseType="lpstr">
      <vt:lpstr>Arial</vt:lpstr>
      <vt:lpstr>Calibri</vt:lpstr>
      <vt:lpstr>Verdana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LUCA CAMIOLO</cp:lastModifiedBy>
  <cp:revision>2</cp:revision>
  <dcterms:created xsi:type="dcterms:W3CDTF">2026-09-15T19:39:36Z</dcterms:created>
  <dcterms:modified xsi:type="dcterms:W3CDTF">2026-10-05T08:46:46Z</dcterms:modified>
</cp:coreProperties>
</file>